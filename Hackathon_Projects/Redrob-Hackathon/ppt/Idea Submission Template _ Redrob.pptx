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22" autoAdjust="0"/>
  </p:normalViewPr>
  <p:slideViewPr>
    <p:cSldViewPr snapToGrid="0">
      <p:cViewPr varScale="1">
        <p:scale>
          <a:sx n="63" d="100"/>
          <a:sy n="63" d="100"/>
        </p:scale>
        <p:origin x="77" y="5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4.pn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sv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10"/>
            <a:ext cx="9144003" cy="514349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5B057565-540A-161E-984F-C5486AB78F76}"/>
              </a:ext>
            </a:extLst>
          </p:cNvPr>
          <p:cNvSpPr/>
          <p:nvPr/>
        </p:nvSpPr>
        <p:spPr>
          <a:xfrm>
            <a:off x="597977" y="2619693"/>
            <a:ext cx="1317890" cy="277515"/>
          </a:xfrm>
          <a:prstGeom prst="roundRect">
            <a:avLst>
              <a:gd name="adj" fmla="val 18308"/>
            </a:avLst>
          </a:prstGeom>
          <a:noFill/>
          <a:ln w="6350">
            <a:solidFill>
              <a:schemeClr val="accent6">
                <a:lumMod val="75000"/>
              </a:schemeClr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CD3C31-3D91-DE23-0E33-E51841090B14}"/>
              </a:ext>
            </a:extLst>
          </p:cNvPr>
          <p:cNvSpPr/>
          <p:nvPr/>
        </p:nvSpPr>
        <p:spPr>
          <a:xfrm>
            <a:off x="939975" y="2693888"/>
            <a:ext cx="155204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OVERVIEW</a:t>
            </a:r>
            <a:endParaRPr lang="en-US" sz="950" b="1" dirty="0">
              <a:solidFill>
                <a:schemeClr val="bg1"/>
              </a:solidFill>
            </a:endParaRPr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7F09EC83-565D-860B-E7AD-C820BB9ABB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63" y="2619693"/>
            <a:ext cx="277712" cy="2777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416587-56AF-4A6E-8194-211077F7B528}"/>
              </a:ext>
            </a:extLst>
          </p:cNvPr>
          <p:cNvSpPr txBox="1"/>
          <p:nvPr/>
        </p:nvSpPr>
        <p:spPr>
          <a:xfrm>
            <a:off x="597977" y="3056747"/>
            <a:ext cx="4669536" cy="30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Alpha Decoder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7BE09DA-E4C1-1B22-3E4D-5D78A9F70C82}"/>
              </a:ext>
            </a:extLst>
          </p:cNvPr>
          <p:cNvSpPr/>
          <p:nvPr/>
        </p:nvSpPr>
        <p:spPr>
          <a:xfrm flipV="1">
            <a:off x="597977" y="3402778"/>
            <a:ext cx="8363143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AEF701-B5E2-6C89-5593-BB9CF60F2587}"/>
              </a:ext>
            </a:extLst>
          </p:cNvPr>
          <p:cNvSpPr txBox="1"/>
          <p:nvPr/>
        </p:nvSpPr>
        <p:spPr>
          <a:xfrm>
            <a:off x="597977" y="3522513"/>
            <a:ext cx="4669536" cy="30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Team Details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640AD2-3308-948F-B1B5-0B636DE68CE5}"/>
              </a:ext>
            </a:extLst>
          </p:cNvPr>
          <p:cNvSpPr txBox="1"/>
          <p:nvPr/>
        </p:nvSpPr>
        <p:spPr>
          <a:xfrm>
            <a:off x="597977" y="3777255"/>
            <a:ext cx="4669536" cy="330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Leader: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Ayush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2F45B7-F820-528B-0B35-46EED1EAEE1B}"/>
              </a:ext>
            </a:extLst>
          </p:cNvPr>
          <p:cNvSpPr txBox="1"/>
          <p:nvPr/>
        </p:nvSpPr>
        <p:spPr>
          <a:xfrm>
            <a:off x="4077940" y="3437194"/>
            <a:ext cx="4669536" cy="30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Problem Statement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E390D3-3559-96D7-45C2-A979A49D1DD1}"/>
              </a:ext>
            </a:extLst>
          </p:cNvPr>
          <p:cNvSpPr txBox="1"/>
          <p:nvPr/>
        </p:nvSpPr>
        <p:spPr>
          <a:xfrm>
            <a:off x="4077940" y="3657739"/>
            <a:ext cx="4883180" cy="73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 an intelligent candidate discovery and ranking system capable of identifying the most relevant candidates for an AI/ML hiring requirement from a dataset of </a:t>
            </a:r>
            <a:r>
              <a:rPr lang="en-US" sz="12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</a:t>
            </a: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 profiles.</a:t>
            </a:r>
            <a:endParaRPr lang="en-US" sz="12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49DA7DF-4071-DF31-1100-D5EB3E004F24}"/>
              </a:ext>
            </a:extLst>
          </p:cNvPr>
          <p:cNvSpPr/>
          <p:nvPr/>
        </p:nvSpPr>
        <p:spPr>
          <a:xfrm>
            <a:off x="556997" y="4375738"/>
            <a:ext cx="8141711" cy="648062"/>
          </a:xfrm>
          <a:prstGeom prst="roundRect">
            <a:avLst>
              <a:gd name="adj" fmla="val 8716"/>
            </a:avLst>
          </a:prstGeom>
          <a:solidFill>
            <a:srgbClr val="B6D6FC"/>
          </a:solidFill>
          <a:ln/>
        </p:spPr>
      </p:sp>
      <p:pic>
        <p:nvPicPr>
          <p:cNvPr id="18" name="Image 4" descr="preencoded.png">
            <a:extLst>
              <a:ext uri="{FF2B5EF4-FFF2-40B4-BE49-F238E27FC236}">
                <a16:creationId xmlns:a16="http://schemas.microsoft.com/office/drawing/2014/main" id="{FCC52A71-F634-58A3-9042-B572926C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55" y="4669641"/>
            <a:ext cx="183841" cy="147076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9508C606-DEA7-695A-2020-00C482C3989E}"/>
              </a:ext>
            </a:extLst>
          </p:cNvPr>
          <p:cNvSpPr/>
          <p:nvPr/>
        </p:nvSpPr>
        <p:spPr>
          <a:xfrm>
            <a:off x="989154" y="4522382"/>
            <a:ext cx="7660316" cy="38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solution should evaluate candidate suitability using experience, skills, career evidence, and behavioral signals while providing transparent and explainable ranking decisions.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B03BD52-7361-D449-5EA1-C44762002894}"/>
              </a:ext>
            </a:extLst>
          </p:cNvPr>
          <p:cNvSpPr/>
          <p:nvPr/>
        </p:nvSpPr>
        <p:spPr>
          <a:xfrm>
            <a:off x="3342975" y="577732"/>
            <a:ext cx="1826433" cy="501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Solution Overview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15CF033-9BAB-ECF9-DE60-7AA7AED6D63A}"/>
              </a:ext>
            </a:extLst>
          </p:cNvPr>
          <p:cNvSpPr/>
          <p:nvPr/>
        </p:nvSpPr>
        <p:spPr>
          <a:xfrm flipV="1">
            <a:off x="378592" y="1141329"/>
            <a:ext cx="8386811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5FF99D-0E67-558E-FABB-6B3959ECDC3B}"/>
              </a:ext>
            </a:extLst>
          </p:cNvPr>
          <p:cNvSpPr/>
          <p:nvPr/>
        </p:nvSpPr>
        <p:spPr>
          <a:xfrm>
            <a:off x="378592" y="1267766"/>
            <a:ext cx="1551089" cy="26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Proposed Solution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D37F50-E62C-091B-3D76-D6A7E8757DE7}"/>
              </a:ext>
            </a:extLst>
          </p:cNvPr>
          <p:cNvSpPr/>
          <p:nvPr/>
        </p:nvSpPr>
        <p:spPr>
          <a:xfrm>
            <a:off x="371971" y="1593294"/>
            <a:ext cx="4200026" cy="1061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proposed solution is an intelligent candidate discovery and ranking system designed to identify the most relevant candidates from a dataset of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 profiles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826EEC-50E9-DD5A-94EB-7D30CA53B4F7}"/>
              </a:ext>
            </a:extLst>
          </p:cNvPr>
          <p:cNvSpPr/>
          <p:nvPr/>
        </p:nvSpPr>
        <p:spPr>
          <a:xfrm>
            <a:off x="368362" y="2672862"/>
            <a:ext cx="3887829" cy="2246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Evaluates professional experience and role relevance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Assesses technical skills, career achievements, and AI/ML expertise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Incorporates behavioral hiring signals and recruiter-readiness indicators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Produces a ranked shortlist with clear, explainable reasons</a:t>
            </a:r>
            <a:endParaRPr lang="en-US" sz="14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407F6E9-2DA7-AF52-2494-247D2CB50F23}"/>
              </a:ext>
            </a:extLst>
          </p:cNvPr>
          <p:cNvSpPr/>
          <p:nvPr/>
        </p:nvSpPr>
        <p:spPr>
          <a:xfrm>
            <a:off x="5169408" y="1287375"/>
            <a:ext cx="1551089" cy="26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Sets It Apart</a:t>
            </a:r>
            <a:endParaRPr lang="en-US" sz="1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1B998B5-DAD2-03FF-0AEF-285ED86DEB65}"/>
              </a:ext>
            </a:extLst>
          </p:cNvPr>
          <p:cNvSpPr/>
          <p:nvPr/>
        </p:nvSpPr>
        <p:spPr>
          <a:xfrm>
            <a:off x="5205986" y="1696167"/>
            <a:ext cx="3559417" cy="1257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matching systems rely heavily on keyword-based filtering. Our approach goes further by assessing context, experience quality, and practical expertise.</a:t>
            </a:r>
            <a:endParaRPr lang="en-US" sz="14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08F950-5850-4F07-2938-138B51DF7C98}"/>
              </a:ext>
            </a:extLst>
          </p:cNvPr>
          <p:cNvSpPr/>
          <p:nvPr/>
        </p:nvSpPr>
        <p:spPr>
          <a:xfrm>
            <a:off x="5205986" y="2933693"/>
            <a:ext cx="3781305" cy="1985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Analyzes title relevance and career evidence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Weights AI-specific skills and hiring readiness signals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indicators such as recruiter response rate, GitHub activity, notice period, and open-to-work status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an explainable reasoning layer for every recommendation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4F6367F-C947-AF96-4AE4-8B2AC891D3C5}"/>
              </a:ext>
            </a:extLst>
          </p:cNvPr>
          <p:cNvSpPr/>
          <p:nvPr/>
        </p:nvSpPr>
        <p:spPr>
          <a:xfrm>
            <a:off x="597408" y="561289"/>
            <a:ext cx="8022336" cy="523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JD Understanding &amp; Candidate Evaluation</a:t>
            </a:r>
            <a:endParaRPr lang="en-US" sz="3200" dirty="0"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2FC7F481-516E-B844-D9F2-6AA8B0BEF6C8}"/>
              </a:ext>
            </a:extLst>
          </p:cNvPr>
          <p:cNvSpPr/>
          <p:nvPr/>
        </p:nvSpPr>
        <p:spPr>
          <a:xfrm>
            <a:off x="353568" y="1381277"/>
            <a:ext cx="8522208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2053795-A917-4883-2C9B-8DD869B06AA2}"/>
              </a:ext>
            </a:extLst>
          </p:cNvPr>
          <p:cNvSpPr/>
          <p:nvPr/>
        </p:nvSpPr>
        <p:spPr>
          <a:xfrm>
            <a:off x="353568" y="1626273"/>
            <a:ext cx="412005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Requirements from the JD</a:t>
            </a:r>
            <a:endParaRPr lang="en-US" sz="185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360C578B-F448-52EF-830F-A8EC16FE7992}"/>
              </a:ext>
            </a:extLst>
          </p:cNvPr>
          <p:cNvSpPr/>
          <p:nvPr/>
        </p:nvSpPr>
        <p:spPr>
          <a:xfrm>
            <a:off x="353568" y="2110560"/>
            <a:ext cx="5203695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Search &amp; retrieval expertise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 &amp; recommendation systems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engineering skills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NLP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&amp;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vector databases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5–8 years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relevant experience</a:t>
            </a:r>
            <a:endParaRPr lang="en-US" sz="145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FE68D4AD-F522-0C9F-6674-1D81016720EE}"/>
              </a:ext>
            </a:extLst>
          </p:cNvPr>
          <p:cNvSpPr/>
          <p:nvPr/>
        </p:nvSpPr>
        <p:spPr>
          <a:xfrm>
            <a:off x="4352739" y="1596881"/>
            <a:ext cx="456077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 Important Candidate Signals</a:t>
            </a:r>
            <a:endParaRPr lang="en-US" sz="18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F77D52E4-F9D3-6C3A-C2B5-CF91567EA1AF}"/>
              </a:ext>
            </a:extLst>
          </p:cNvPr>
          <p:cNvSpPr/>
          <p:nvPr/>
        </p:nvSpPr>
        <p:spPr>
          <a:xfrm>
            <a:off x="4293891" y="2110560"/>
            <a:ext cx="5203695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&amp; experience match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skills alignment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 &amp; career evidence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Open-to-work &amp; hiring signals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multi-factor scoring</a:t>
            </a:r>
            <a:endParaRPr lang="en-US" sz="1450" dirty="0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D74A3298-E9E4-25FD-E099-519D89F48D6E}"/>
              </a:ext>
            </a:extLst>
          </p:cNvPr>
          <p:cNvSpPr/>
          <p:nvPr/>
        </p:nvSpPr>
        <p:spPr>
          <a:xfrm>
            <a:off x="207264" y="4105377"/>
            <a:ext cx="8827008" cy="881151"/>
          </a:xfrm>
          <a:prstGeom prst="roundRect">
            <a:avLst>
              <a:gd name="adj" fmla="val 7638"/>
            </a:avLst>
          </a:prstGeom>
          <a:solidFill>
            <a:srgbClr val="D2D2E0"/>
          </a:solidFill>
          <a:ln/>
        </p:spPr>
      </p:sp>
      <p:pic>
        <p:nvPicPr>
          <p:cNvPr id="35" name="Image 0" descr="preencoded.png">
            <a:extLst>
              <a:ext uri="{FF2B5EF4-FFF2-40B4-BE49-F238E27FC236}">
                <a16:creationId xmlns:a16="http://schemas.microsoft.com/office/drawing/2014/main" id="{5E91DA45-B3EC-A01D-8C75-1F4269EAF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" y="4429491"/>
            <a:ext cx="291112" cy="232921"/>
          </a:xfrm>
          <a:prstGeom prst="rect">
            <a:avLst/>
          </a:prstGeom>
        </p:spPr>
      </p:pic>
      <p:sp>
        <p:nvSpPr>
          <p:cNvPr id="36" name="Text 8">
            <a:extLst>
              <a:ext uri="{FF2B5EF4-FFF2-40B4-BE49-F238E27FC236}">
                <a16:creationId xmlns:a16="http://schemas.microsoft.com/office/drawing/2014/main" id="{22163C38-E74E-61B1-7417-41D8CB408A07}"/>
              </a:ext>
            </a:extLst>
          </p:cNvPr>
          <p:cNvSpPr/>
          <p:nvPr/>
        </p:nvSpPr>
        <p:spPr>
          <a:xfrm>
            <a:off x="1085031" y="4289580"/>
            <a:ext cx="7790745" cy="512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Evaluation approach:</a:t>
            </a: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solution prioritizes relevance beyond keywords by combining skills, experience, and hiring readiness into a transparent scoring framework.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74352D02-D23E-31DE-D68C-E0390B048CE8}"/>
              </a:ext>
            </a:extLst>
          </p:cNvPr>
          <p:cNvSpPr/>
          <p:nvPr/>
        </p:nvSpPr>
        <p:spPr>
          <a:xfrm>
            <a:off x="661575" y="699393"/>
            <a:ext cx="2546588" cy="298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Methodology</a:t>
            </a:r>
            <a:endParaRPr lang="en-US" sz="25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B497D-AAF1-E515-7AC8-F361A9F1E083}"/>
              </a:ext>
            </a:extLst>
          </p:cNvPr>
          <p:cNvSpPr/>
          <p:nvPr/>
        </p:nvSpPr>
        <p:spPr>
          <a:xfrm>
            <a:off x="661574" y="1198805"/>
            <a:ext cx="6934041" cy="45719"/>
          </a:xfrm>
          <a:prstGeom prst="roundRect">
            <a:avLst>
              <a:gd name="adj" fmla="val 336691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21F558-5E21-BD0F-2487-C14F6248ECC3}"/>
              </a:ext>
            </a:extLst>
          </p:cNvPr>
          <p:cNvSpPr/>
          <p:nvPr/>
        </p:nvSpPr>
        <p:spPr>
          <a:xfrm>
            <a:off x="661574" y="1455966"/>
            <a:ext cx="1670147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Retrieve and score</a:t>
            </a:r>
            <a:endParaRPr lang="en-US" sz="1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9C8431D-33FE-6FCC-8E7C-4B118CC7CDFF}"/>
              </a:ext>
            </a:extLst>
          </p:cNvPr>
          <p:cNvSpPr/>
          <p:nvPr/>
        </p:nvSpPr>
        <p:spPr>
          <a:xfrm>
            <a:off x="661575" y="1843513"/>
            <a:ext cx="3342004" cy="102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Extract candidate profile data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candidate features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Calculate multi-factor scores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 candidates by final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top recommendations</a:t>
            </a:r>
            <a:endParaRPr lang="en-US" sz="12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BB51F6-3AAD-0562-8C8A-7787A2DB68EB}"/>
              </a:ext>
            </a:extLst>
          </p:cNvPr>
          <p:cNvSpPr/>
          <p:nvPr/>
        </p:nvSpPr>
        <p:spPr>
          <a:xfrm>
            <a:off x="5140421" y="1445631"/>
            <a:ext cx="1818014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Models and heuristics</a:t>
            </a:r>
            <a:endParaRPr lang="en-US" sz="15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8D2F1A0-D9AE-C2EE-EC1A-E7BF9D146A6F}"/>
              </a:ext>
            </a:extLst>
          </p:cNvPr>
          <p:cNvSpPr/>
          <p:nvPr/>
        </p:nvSpPr>
        <p:spPr>
          <a:xfrm>
            <a:off x="5140421" y="1833178"/>
            <a:ext cx="3342004" cy="102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 engine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Weighted ranking framework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Keyword and career evidence matching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relevance boosting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signal scoring</a:t>
            </a:r>
            <a:endParaRPr lang="en-US" sz="1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1BCC282-E088-3E63-C10C-61655775E16B}"/>
              </a:ext>
            </a:extLst>
          </p:cNvPr>
          <p:cNvSpPr/>
          <p:nvPr/>
        </p:nvSpPr>
        <p:spPr>
          <a:xfrm>
            <a:off x="638857" y="3104300"/>
            <a:ext cx="6934041" cy="45719"/>
          </a:xfrm>
          <a:prstGeom prst="roundRect">
            <a:avLst>
              <a:gd name="adj" fmla="val 336691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E827824-3CBF-5113-A900-08FDF45B8F03}"/>
              </a:ext>
            </a:extLst>
          </p:cNvPr>
          <p:cNvSpPr/>
          <p:nvPr/>
        </p:nvSpPr>
        <p:spPr>
          <a:xfrm>
            <a:off x="661574" y="3255897"/>
            <a:ext cx="1728510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Final ranking signals</a:t>
            </a:r>
            <a:endParaRPr lang="en-US" sz="15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289F52-7B52-FE79-0AF7-9C9E5CADF9AC}"/>
              </a:ext>
            </a:extLst>
          </p:cNvPr>
          <p:cNvSpPr/>
          <p:nvPr/>
        </p:nvSpPr>
        <p:spPr>
          <a:xfrm>
            <a:off x="661574" y="3711707"/>
            <a:ext cx="6934041" cy="1236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relevance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skill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signal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Negative match penalty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D2DA78C2-7420-5525-69BD-FF9509A0E644}"/>
              </a:ext>
            </a:extLst>
          </p:cNvPr>
          <p:cNvSpPr/>
          <p:nvPr/>
        </p:nvSpPr>
        <p:spPr>
          <a:xfrm>
            <a:off x="100743" y="818035"/>
            <a:ext cx="5759994" cy="729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Explainability &amp; Data Validation</a:t>
            </a:r>
            <a:endParaRPr lang="en-US" sz="29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B38B37-3ED3-A493-9E2A-42D46ED23322}"/>
              </a:ext>
            </a:extLst>
          </p:cNvPr>
          <p:cNvSpPr/>
          <p:nvPr/>
        </p:nvSpPr>
        <p:spPr>
          <a:xfrm>
            <a:off x="100742" y="1573982"/>
            <a:ext cx="10580706" cy="4669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ranking decision is traceable, explainable, and supported by profile evidence.</a:t>
            </a:r>
            <a:endParaRPr lang="en-US" sz="14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D8DB6D4-412A-EC2C-064D-BD781052903D}"/>
              </a:ext>
            </a:extLst>
          </p:cNvPr>
          <p:cNvSpPr/>
          <p:nvPr/>
        </p:nvSpPr>
        <p:spPr>
          <a:xfrm flipV="1">
            <a:off x="100743" y="2090535"/>
            <a:ext cx="8519001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A2AB6E-721D-8AE7-7924-FB2263FEB8D1}"/>
              </a:ext>
            </a:extLst>
          </p:cNvPr>
          <p:cNvSpPr/>
          <p:nvPr/>
        </p:nvSpPr>
        <p:spPr>
          <a:xfrm>
            <a:off x="100742" y="2608735"/>
            <a:ext cx="2739837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Explainability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B9FB937-6C72-2E63-93BF-7C0EDDEB3C54}"/>
              </a:ext>
            </a:extLst>
          </p:cNvPr>
          <p:cNvSpPr/>
          <p:nvPr/>
        </p:nvSpPr>
        <p:spPr>
          <a:xfrm>
            <a:off x="100742" y="3093022"/>
            <a:ext cx="3021347" cy="26408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Score breakdown for every candidate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Highlighted matching skills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displayed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 reason generated</a:t>
            </a:r>
            <a:endParaRPr lang="en-US" sz="14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B712B2-8F73-3638-1B6E-8B003E529B9C}"/>
              </a:ext>
            </a:extLst>
          </p:cNvPr>
          <p:cNvSpPr/>
          <p:nvPr/>
        </p:nvSpPr>
        <p:spPr>
          <a:xfrm>
            <a:off x="2830188" y="2571750"/>
            <a:ext cx="2739837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Validation</a:t>
            </a:r>
            <a:endParaRPr lang="en-US" sz="1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B2DC2B-B9BC-7B14-6C3F-1E775EB88EC9}"/>
              </a:ext>
            </a:extLst>
          </p:cNvPr>
          <p:cNvSpPr/>
          <p:nvPr/>
        </p:nvSpPr>
        <p:spPr>
          <a:xfrm>
            <a:off x="2830188" y="3056037"/>
            <a:ext cx="3021347" cy="2173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only candidate profile data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generated facts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Evidence-based scoring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ranking logic</a:t>
            </a:r>
            <a:endParaRPr lang="en-US" sz="14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70E654-8D60-9B07-7C47-259BC56B5D2B}"/>
              </a:ext>
            </a:extLst>
          </p:cNvPr>
          <p:cNvSpPr/>
          <p:nvPr/>
        </p:nvSpPr>
        <p:spPr>
          <a:xfrm>
            <a:off x="5917465" y="2571750"/>
            <a:ext cx="2739837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Quality Controls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7A6B43C-43FD-115D-C4C1-9F7E9383BBDF}"/>
              </a:ext>
            </a:extLst>
          </p:cNvPr>
          <p:cNvSpPr/>
          <p:nvPr/>
        </p:nvSpPr>
        <p:spPr>
          <a:xfrm>
            <a:off x="5917465" y="3056037"/>
            <a:ext cx="3125793" cy="2173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Missing data reduces score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Negative signals apply penalties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Irrelevant profiles filtered out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Low-quality profiles ranked lower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25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58CDABF-CA14-0EF4-B473-6BDDC8792820}"/>
              </a:ext>
            </a:extLst>
          </p:cNvPr>
          <p:cNvSpPr/>
          <p:nvPr/>
        </p:nvSpPr>
        <p:spPr>
          <a:xfrm>
            <a:off x="3242363" y="479494"/>
            <a:ext cx="1996553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Workflow Overview</a:t>
            </a:r>
            <a:endParaRPr lang="en-US" sz="14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CA936D-0070-8F28-1B9B-B27192D132DA}"/>
              </a:ext>
            </a:extLst>
          </p:cNvPr>
          <p:cNvSpPr/>
          <p:nvPr/>
        </p:nvSpPr>
        <p:spPr>
          <a:xfrm>
            <a:off x="3001165" y="698967"/>
            <a:ext cx="2989322" cy="3767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Workflow</a:t>
            </a:r>
            <a:endParaRPr lang="en-US" sz="2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AC5DE7-1F56-6EA3-1006-16B8118F1B58}"/>
              </a:ext>
            </a:extLst>
          </p:cNvPr>
          <p:cNvSpPr/>
          <p:nvPr/>
        </p:nvSpPr>
        <p:spPr>
          <a:xfrm>
            <a:off x="67688" y="1061448"/>
            <a:ext cx="9167580" cy="216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job description ingestion to explainable candidate ranking</a:t>
            </a:r>
            <a:endParaRPr lang="en-US" sz="11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1A205D-BEDE-0431-7ED1-22A3764D1A29}"/>
              </a:ext>
            </a:extLst>
          </p:cNvPr>
          <p:cNvSpPr/>
          <p:nvPr/>
        </p:nvSpPr>
        <p:spPr>
          <a:xfrm>
            <a:off x="231621" y="1262196"/>
            <a:ext cx="8715463" cy="55745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63B6D654-786E-43BB-8FB7-705BE58F2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8105" y="1483793"/>
            <a:ext cx="150678" cy="150681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62F446C-8D1A-1787-C5F4-9396FBBD5A52}"/>
              </a:ext>
            </a:extLst>
          </p:cNvPr>
          <p:cNvSpPr/>
          <p:nvPr/>
        </p:nvSpPr>
        <p:spPr>
          <a:xfrm>
            <a:off x="205875" y="1702867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59ADCFF-3EB2-9E2E-92BE-A150B617638D}"/>
              </a:ext>
            </a:extLst>
          </p:cNvPr>
          <p:cNvSpPr/>
          <p:nvPr/>
        </p:nvSpPr>
        <p:spPr>
          <a:xfrm>
            <a:off x="240790" y="1816572"/>
            <a:ext cx="1608257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Job Description Input</a:t>
            </a:r>
            <a:endParaRPr lang="en-US" sz="1450" dirty="0"/>
          </a:p>
        </p:txBody>
      </p:sp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7858E998-3B52-7B83-CA4E-54A81A7EC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8345" y="1488321"/>
            <a:ext cx="150678" cy="150681"/>
          </a:xfrm>
          <a:prstGeom prst="rect">
            <a:avLst/>
          </a:prstGeom>
        </p:spPr>
      </p:pic>
      <p:sp>
        <p:nvSpPr>
          <p:cNvPr id="10" name="Shape 6">
            <a:extLst>
              <a:ext uri="{FF2B5EF4-FFF2-40B4-BE49-F238E27FC236}">
                <a16:creationId xmlns:a16="http://schemas.microsoft.com/office/drawing/2014/main" id="{A90B79B3-ECFB-974A-0A84-FDE296D3A098}"/>
              </a:ext>
            </a:extLst>
          </p:cNvPr>
          <p:cNvSpPr/>
          <p:nvPr/>
        </p:nvSpPr>
        <p:spPr>
          <a:xfrm>
            <a:off x="4646113" y="1707395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BF9CDFB-9488-A292-121E-43A34F0C41E9}"/>
              </a:ext>
            </a:extLst>
          </p:cNvPr>
          <p:cNvSpPr/>
          <p:nvPr/>
        </p:nvSpPr>
        <p:spPr>
          <a:xfrm>
            <a:off x="4675923" y="1821100"/>
            <a:ext cx="2000753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JD Requirement Extraction</a:t>
            </a:r>
            <a:endParaRPr lang="en-US" sz="1450" dirty="0"/>
          </a:p>
        </p:txBody>
      </p:sp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C0289B81-68A1-2AA3-ED86-E0C67E2874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2407" y="2204032"/>
            <a:ext cx="150678" cy="150681"/>
          </a:xfrm>
          <a:prstGeom prst="rect">
            <a:avLst/>
          </a:prstGeom>
        </p:spPr>
      </p:pic>
      <p:sp>
        <p:nvSpPr>
          <p:cNvPr id="13" name="Shape 8">
            <a:extLst>
              <a:ext uri="{FF2B5EF4-FFF2-40B4-BE49-F238E27FC236}">
                <a16:creationId xmlns:a16="http://schemas.microsoft.com/office/drawing/2014/main" id="{CDD988E4-4D37-321B-8C34-6C1D85F30BCF}"/>
              </a:ext>
            </a:extLst>
          </p:cNvPr>
          <p:cNvSpPr/>
          <p:nvPr/>
        </p:nvSpPr>
        <p:spPr>
          <a:xfrm>
            <a:off x="205875" y="2525093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30F0040-1DED-DF1D-45D7-9FDB8F028FBA}"/>
              </a:ext>
            </a:extLst>
          </p:cNvPr>
          <p:cNvSpPr/>
          <p:nvPr/>
        </p:nvSpPr>
        <p:spPr>
          <a:xfrm>
            <a:off x="233769" y="2638798"/>
            <a:ext cx="214798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Candidate Profile Processing</a:t>
            </a:r>
            <a:endParaRPr lang="en-US" sz="1450" dirty="0"/>
          </a:p>
        </p:txBody>
      </p:sp>
      <p:pic>
        <p:nvPicPr>
          <p:cNvPr id="15" name="Image 3" descr="preencoded.png">
            <a:extLst>
              <a:ext uri="{FF2B5EF4-FFF2-40B4-BE49-F238E27FC236}">
                <a16:creationId xmlns:a16="http://schemas.microsoft.com/office/drawing/2014/main" id="{00F6F851-266D-8DC1-04C3-B3DD5BF5B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8345" y="2310547"/>
            <a:ext cx="150678" cy="150681"/>
          </a:xfrm>
          <a:prstGeom prst="rect">
            <a:avLst/>
          </a:prstGeom>
        </p:spPr>
      </p:pic>
      <p:sp>
        <p:nvSpPr>
          <p:cNvPr id="16" name="Shape 10">
            <a:extLst>
              <a:ext uri="{FF2B5EF4-FFF2-40B4-BE49-F238E27FC236}">
                <a16:creationId xmlns:a16="http://schemas.microsoft.com/office/drawing/2014/main" id="{E2B52709-A94D-E8C8-B1B2-1A0B4213D1F6}"/>
              </a:ext>
            </a:extLst>
          </p:cNvPr>
          <p:cNvSpPr/>
          <p:nvPr/>
        </p:nvSpPr>
        <p:spPr>
          <a:xfrm>
            <a:off x="4646113" y="2529621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5CE13989-B7E6-F9F7-D07B-2FBC07C37862}"/>
              </a:ext>
            </a:extLst>
          </p:cNvPr>
          <p:cNvSpPr/>
          <p:nvPr/>
        </p:nvSpPr>
        <p:spPr>
          <a:xfrm>
            <a:off x="4682313" y="2643326"/>
            <a:ext cx="150967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Feature Extraction</a:t>
            </a:r>
            <a:endParaRPr lang="en-US" sz="1450" dirty="0"/>
          </a:p>
        </p:txBody>
      </p:sp>
      <p:pic>
        <p:nvPicPr>
          <p:cNvPr id="18" name="Image 4" descr="preencoded.png">
            <a:extLst>
              <a:ext uri="{FF2B5EF4-FFF2-40B4-BE49-F238E27FC236}">
                <a16:creationId xmlns:a16="http://schemas.microsoft.com/office/drawing/2014/main" id="{8FE25DA1-B6D3-E743-8AD0-A8B8B5397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2407" y="3026258"/>
            <a:ext cx="150678" cy="150681"/>
          </a:xfrm>
          <a:prstGeom prst="rect">
            <a:avLst/>
          </a:prstGeom>
        </p:spPr>
      </p:pic>
      <p:sp>
        <p:nvSpPr>
          <p:cNvPr id="19" name="Shape 12">
            <a:extLst>
              <a:ext uri="{FF2B5EF4-FFF2-40B4-BE49-F238E27FC236}">
                <a16:creationId xmlns:a16="http://schemas.microsoft.com/office/drawing/2014/main" id="{6DF4C429-266F-5E0D-56C2-FC9D172B0172}"/>
              </a:ext>
            </a:extLst>
          </p:cNvPr>
          <p:cNvSpPr/>
          <p:nvPr/>
        </p:nvSpPr>
        <p:spPr>
          <a:xfrm>
            <a:off x="205875" y="3347319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4A4AA3AD-9DBE-6674-73DE-3C50FF846689}"/>
              </a:ext>
            </a:extLst>
          </p:cNvPr>
          <p:cNvSpPr/>
          <p:nvPr/>
        </p:nvSpPr>
        <p:spPr>
          <a:xfrm>
            <a:off x="231621" y="3461024"/>
            <a:ext cx="2313054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Multi-Factor Candidate Scoring</a:t>
            </a:r>
            <a:endParaRPr lang="en-US" sz="1450" dirty="0"/>
          </a:p>
        </p:txBody>
      </p:sp>
      <p:pic>
        <p:nvPicPr>
          <p:cNvPr id="21" name="Image 5" descr="preencoded.png">
            <a:extLst>
              <a:ext uri="{FF2B5EF4-FFF2-40B4-BE49-F238E27FC236}">
                <a16:creationId xmlns:a16="http://schemas.microsoft.com/office/drawing/2014/main" id="{38974ABB-4F98-6213-3F9E-4C03C0BBA7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98345" y="3132773"/>
            <a:ext cx="150678" cy="150681"/>
          </a:xfrm>
          <a:prstGeom prst="rect">
            <a:avLst/>
          </a:prstGeom>
        </p:spPr>
      </p:pic>
      <p:sp>
        <p:nvSpPr>
          <p:cNvPr id="22" name="Shape 14">
            <a:extLst>
              <a:ext uri="{FF2B5EF4-FFF2-40B4-BE49-F238E27FC236}">
                <a16:creationId xmlns:a16="http://schemas.microsoft.com/office/drawing/2014/main" id="{4E2F67E5-4D37-FD51-AF16-A5ED389A4315}"/>
              </a:ext>
            </a:extLst>
          </p:cNvPr>
          <p:cNvSpPr/>
          <p:nvPr/>
        </p:nvSpPr>
        <p:spPr>
          <a:xfrm>
            <a:off x="4646113" y="3351847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6EC9702A-61ED-A98B-C6AD-C6D6DBCD1210}"/>
              </a:ext>
            </a:extLst>
          </p:cNvPr>
          <p:cNvSpPr/>
          <p:nvPr/>
        </p:nvSpPr>
        <p:spPr>
          <a:xfrm>
            <a:off x="4682313" y="3465552"/>
            <a:ext cx="150967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Ranking &amp; Sorting</a:t>
            </a:r>
            <a:endParaRPr lang="en-US" sz="1450" dirty="0"/>
          </a:p>
        </p:txBody>
      </p:sp>
      <p:pic>
        <p:nvPicPr>
          <p:cNvPr id="24" name="Image 6" descr="preencoded.png">
            <a:extLst>
              <a:ext uri="{FF2B5EF4-FFF2-40B4-BE49-F238E27FC236}">
                <a16:creationId xmlns:a16="http://schemas.microsoft.com/office/drawing/2014/main" id="{98485859-05B4-90B7-47E6-659D87550A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2407" y="3848484"/>
            <a:ext cx="150678" cy="150681"/>
          </a:xfrm>
          <a:prstGeom prst="rect">
            <a:avLst/>
          </a:prstGeom>
        </p:spPr>
      </p:pic>
      <p:sp>
        <p:nvSpPr>
          <p:cNvPr id="25" name="Shape 16">
            <a:extLst>
              <a:ext uri="{FF2B5EF4-FFF2-40B4-BE49-F238E27FC236}">
                <a16:creationId xmlns:a16="http://schemas.microsoft.com/office/drawing/2014/main" id="{58F9D288-A730-320A-BD7C-386C627D6629}"/>
              </a:ext>
            </a:extLst>
          </p:cNvPr>
          <p:cNvSpPr/>
          <p:nvPr/>
        </p:nvSpPr>
        <p:spPr>
          <a:xfrm>
            <a:off x="205875" y="4169545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4C10E6EA-5024-891F-15F1-8C7B874893B5}"/>
              </a:ext>
            </a:extLst>
          </p:cNvPr>
          <p:cNvSpPr/>
          <p:nvPr/>
        </p:nvSpPr>
        <p:spPr>
          <a:xfrm>
            <a:off x="231647" y="4283249"/>
            <a:ext cx="2311072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Explainable Reason Generation</a:t>
            </a:r>
            <a:endParaRPr lang="en-US" sz="1450" dirty="0"/>
          </a:p>
        </p:txBody>
      </p:sp>
      <p:pic>
        <p:nvPicPr>
          <p:cNvPr id="27" name="Image 7" descr="preencoded.png">
            <a:extLst>
              <a:ext uri="{FF2B5EF4-FFF2-40B4-BE49-F238E27FC236}">
                <a16:creationId xmlns:a16="http://schemas.microsoft.com/office/drawing/2014/main" id="{5C90BBFB-64F6-00A8-D658-181BFB5184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98345" y="3954999"/>
            <a:ext cx="150678" cy="150681"/>
          </a:xfrm>
          <a:prstGeom prst="rect">
            <a:avLst/>
          </a:prstGeom>
        </p:spPr>
      </p:pic>
      <p:sp>
        <p:nvSpPr>
          <p:cNvPr id="28" name="Shape 18">
            <a:extLst>
              <a:ext uri="{FF2B5EF4-FFF2-40B4-BE49-F238E27FC236}">
                <a16:creationId xmlns:a16="http://schemas.microsoft.com/office/drawing/2014/main" id="{F6F026B4-9BCB-707B-28DC-DF3F0298C96B}"/>
              </a:ext>
            </a:extLst>
          </p:cNvPr>
          <p:cNvSpPr/>
          <p:nvPr/>
        </p:nvSpPr>
        <p:spPr>
          <a:xfrm>
            <a:off x="4646113" y="4155582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B13BBC23-0C07-386F-2248-78A99C4A39AA}"/>
              </a:ext>
            </a:extLst>
          </p:cNvPr>
          <p:cNvSpPr/>
          <p:nvPr/>
        </p:nvSpPr>
        <p:spPr>
          <a:xfrm>
            <a:off x="4675225" y="4287777"/>
            <a:ext cx="2054401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 Final Top Candidate Output</a:t>
            </a:r>
            <a:endParaRPr lang="en-US" sz="1450" dirty="0"/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0D0C1CE6-C68C-0ECE-7244-E608F03B51D5}"/>
              </a:ext>
            </a:extLst>
          </p:cNvPr>
          <p:cNvSpPr/>
          <p:nvPr/>
        </p:nvSpPr>
        <p:spPr>
          <a:xfrm>
            <a:off x="311126" y="5223438"/>
            <a:ext cx="8680705" cy="46841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CB7B28C-C2B0-E376-A951-FC8DC660518A}"/>
              </a:ext>
            </a:extLst>
          </p:cNvPr>
          <p:cNvSpPr/>
          <p:nvPr/>
        </p:nvSpPr>
        <p:spPr>
          <a:xfrm>
            <a:off x="157536" y="4577530"/>
            <a:ext cx="8834295" cy="559345"/>
          </a:xfrm>
          <a:prstGeom prst="roundRect">
            <a:avLst>
              <a:gd name="adj" fmla="val 12429"/>
            </a:avLst>
          </a:prstGeom>
          <a:solidFill>
            <a:srgbClr val="D2D2E0"/>
          </a:solidFill>
          <a:ln/>
        </p:spPr>
      </p:sp>
      <p:pic>
        <p:nvPicPr>
          <p:cNvPr id="32" name="Image 8" descr="preencoded.png">
            <a:extLst>
              <a:ext uri="{FF2B5EF4-FFF2-40B4-BE49-F238E27FC236}">
                <a16:creationId xmlns:a16="http://schemas.microsoft.com/office/drawing/2014/main" id="{8A48CAB1-28DE-3AB3-E394-34F4043E036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7166" y="4780234"/>
            <a:ext cx="206899" cy="165523"/>
          </a:xfrm>
          <a:prstGeom prst="rect">
            <a:avLst/>
          </a:prstGeom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315C6D42-35F2-6FFF-AB22-A628A16D3AFC}"/>
              </a:ext>
            </a:extLst>
          </p:cNvPr>
          <p:cNvSpPr/>
          <p:nvPr/>
        </p:nvSpPr>
        <p:spPr>
          <a:xfrm>
            <a:off x="717495" y="4662311"/>
            <a:ext cx="8263056" cy="425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Processing scale: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 profiles are evaluated to produce an explainable ranked shortlist of the most relevant </a:t>
            </a: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FF9AF975-7893-0C28-7047-9B241EF5ABBC}"/>
              </a:ext>
            </a:extLst>
          </p:cNvPr>
          <p:cNvSpPr/>
          <p:nvPr/>
        </p:nvSpPr>
        <p:spPr>
          <a:xfrm>
            <a:off x="3424219" y="622427"/>
            <a:ext cx="2295561" cy="269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System Architecture</a:t>
            </a:r>
            <a:endParaRPr lang="en-US" sz="23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2A6740-E01F-E4FD-AE5E-3DFC1B701D79}"/>
              </a:ext>
            </a:extLst>
          </p:cNvPr>
          <p:cNvSpPr/>
          <p:nvPr/>
        </p:nvSpPr>
        <p:spPr>
          <a:xfrm>
            <a:off x="1246798" y="1076011"/>
            <a:ext cx="7251026" cy="155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pipeline from raw candidate data to ranked hiring recommendations</a:t>
            </a:r>
            <a:endParaRPr lang="en-US" sz="11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3A40393-D0B0-6A7F-2803-6C6EC7C21160}"/>
              </a:ext>
            </a:extLst>
          </p:cNvPr>
          <p:cNvSpPr/>
          <p:nvPr/>
        </p:nvSpPr>
        <p:spPr>
          <a:xfrm flipV="1">
            <a:off x="164592" y="1414169"/>
            <a:ext cx="8814816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3294FA0-D6E8-21C5-D815-276CBD3EFE7B}"/>
              </a:ext>
            </a:extLst>
          </p:cNvPr>
          <p:cNvSpPr/>
          <p:nvPr/>
        </p:nvSpPr>
        <p:spPr>
          <a:xfrm>
            <a:off x="164592" y="2002325"/>
            <a:ext cx="1481935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Input Layer</a:t>
            </a:r>
            <a:endParaRPr lang="en-US" sz="17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4BBA90C-762D-0FA5-6DA3-D2EFC4C304D5}"/>
              </a:ext>
            </a:extLst>
          </p:cNvPr>
          <p:cNvSpPr/>
          <p:nvPr/>
        </p:nvSpPr>
        <p:spPr>
          <a:xfrm>
            <a:off x="164592" y="2406741"/>
            <a:ext cx="1786128" cy="477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Job description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Candidate profiles</a:t>
            </a:r>
            <a:endParaRPr lang="en-US" sz="115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D0D4E5C-FF60-474D-227D-25205549430D}"/>
              </a:ext>
            </a:extLst>
          </p:cNvPr>
          <p:cNvSpPr/>
          <p:nvPr/>
        </p:nvSpPr>
        <p:spPr>
          <a:xfrm>
            <a:off x="2115312" y="1957478"/>
            <a:ext cx="1887882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Processing Layer</a:t>
            </a:r>
            <a:endParaRPr lang="en-US" sz="175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17DEA039-1455-273F-737E-671AB5AD0503}"/>
              </a:ext>
            </a:extLst>
          </p:cNvPr>
          <p:cNvSpPr/>
          <p:nvPr/>
        </p:nvSpPr>
        <p:spPr>
          <a:xfrm>
            <a:off x="2115312" y="2361894"/>
            <a:ext cx="1786128" cy="73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Text extraction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Feature extraction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Signal detection</a:t>
            </a:r>
            <a:endParaRPr lang="en-US" sz="11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DCD3E32-779B-FAD8-1DE8-DBE0DE990F9D}"/>
              </a:ext>
            </a:extLst>
          </p:cNvPr>
          <p:cNvSpPr/>
          <p:nvPr/>
        </p:nvSpPr>
        <p:spPr>
          <a:xfrm>
            <a:off x="4406733" y="1957478"/>
            <a:ext cx="287776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Scoring Layer</a:t>
            </a:r>
            <a:endParaRPr lang="en-US" sz="17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5778D26-1E38-2AE9-D1B9-C2C65465B4D0}"/>
              </a:ext>
            </a:extLst>
          </p:cNvPr>
          <p:cNvSpPr/>
          <p:nvPr/>
        </p:nvSpPr>
        <p:spPr>
          <a:xfrm>
            <a:off x="4406733" y="2361893"/>
            <a:ext cx="1840633" cy="125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skill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 score</a:t>
            </a:r>
            <a:endParaRPr lang="en-US" sz="11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6985F9B7-66DE-9C29-60A8-40452A9949D0}"/>
              </a:ext>
            </a:extLst>
          </p:cNvPr>
          <p:cNvSpPr/>
          <p:nvPr/>
        </p:nvSpPr>
        <p:spPr>
          <a:xfrm>
            <a:off x="6657191" y="2002325"/>
            <a:ext cx="1645561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Output Layer</a:t>
            </a:r>
            <a:endParaRPr lang="en-US" sz="17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0561BC87-51E7-4C86-05E5-AAD76C27DB85}"/>
              </a:ext>
            </a:extLst>
          </p:cNvPr>
          <p:cNvSpPr/>
          <p:nvPr/>
        </p:nvSpPr>
        <p:spPr>
          <a:xfrm>
            <a:off x="6657191" y="2406740"/>
            <a:ext cx="1840633" cy="73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Ranked Top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candidates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reasoning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Submission CSV</a:t>
            </a:r>
            <a:endParaRPr lang="en-US" sz="115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FB43E50A-11E2-2C0B-17A8-49BCD6646AF3}"/>
              </a:ext>
            </a:extLst>
          </p:cNvPr>
          <p:cNvSpPr/>
          <p:nvPr/>
        </p:nvSpPr>
        <p:spPr>
          <a:xfrm>
            <a:off x="164593" y="4363487"/>
            <a:ext cx="8814816" cy="510977"/>
          </a:xfrm>
          <a:prstGeom prst="roundRect">
            <a:avLst>
              <a:gd name="adj" fmla="val 12429"/>
            </a:avLst>
          </a:prstGeom>
          <a:solidFill>
            <a:srgbClr val="B6D6FC"/>
          </a:solidFill>
          <a:ln/>
        </p:spPr>
      </p:sp>
      <p:pic>
        <p:nvPicPr>
          <p:cNvPr id="22" name="Image 0" descr="preencoded.png">
            <a:extLst>
              <a:ext uri="{FF2B5EF4-FFF2-40B4-BE49-F238E27FC236}">
                <a16:creationId xmlns:a16="http://schemas.microsoft.com/office/drawing/2014/main" id="{7328FD3D-7FBC-171D-CA9F-A01E5CCC9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798" y="4566191"/>
            <a:ext cx="189007" cy="151209"/>
          </a:xfrm>
          <a:prstGeom prst="rect">
            <a:avLst/>
          </a:prstGeom>
        </p:spPr>
      </p:pic>
      <p:sp>
        <p:nvSpPr>
          <p:cNvPr id="23" name="Text 16">
            <a:extLst>
              <a:ext uri="{FF2B5EF4-FFF2-40B4-BE49-F238E27FC236}">
                <a16:creationId xmlns:a16="http://schemas.microsoft.com/office/drawing/2014/main" id="{3092B598-BA71-EE70-2025-A883831A9CB6}"/>
              </a:ext>
            </a:extLst>
          </p:cNvPr>
          <p:cNvSpPr/>
          <p:nvPr/>
        </p:nvSpPr>
        <p:spPr>
          <a:xfrm>
            <a:off x="656010" y="4510132"/>
            <a:ext cx="6951798" cy="328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Result: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architecture converts raw candidate data into explainable, ranked hiring recommendations.</a:t>
            </a:r>
            <a:endParaRPr lang="en-US" sz="115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FF9F014F-E2F5-B1AF-44D0-7C4B899402EF}"/>
              </a:ext>
            </a:extLst>
          </p:cNvPr>
          <p:cNvSpPr/>
          <p:nvPr/>
        </p:nvSpPr>
        <p:spPr>
          <a:xfrm>
            <a:off x="164593" y="3701200"/>
            <a:ext cx="8814816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DC2AF4E0-41E9-3BB0-D30D-5628468811CC}"/>
              </a:ext>
            </a:extLst>
          </p:cNvPr>
          <p:cNvSpPr/>
          <p:nvPr/>
        </p:nvSpPr>
        <p:spPr>
          <a:xfrm>
            <a:off x="210470" y="561126"/>
            <a:ext cx="625261" cy="243681"/>
          </a:xfrm>
          <a:prstGeom prst="roundRect">
            <a:avLst>
              <a:gd name="adj" fmla="val 19547"/>
            </a:avLst>
          </a:prstGeom>
          <a:solidFill>
            <a:srgbClr val="E1E1EA"/>
          </a:solidFill>
          <a:ln/>
        </p:spPr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1A833A57-D5E6-8B9B-49C3-41CB48416040}"/>
              </a:ext>
            </a:extLst>
          </p:cNvPr>
          <p:cNvSpPr/>
          <p:nvPr/>
        </p:nvSpPr>
        <p:spPr>
          <a:xfrm>
            <a:off x="997950" y="603591"/>
            <a:ext cx="1419289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8319CC5-8A7A-AE19-31E1-231F5887F024}"/>
              </a:ext>
            </a:extLst>
          </p:cNvPr>
          <p:cNvSpPr/>
          <p:nvPr/>
        </p:nvSpPr>
        <p:spPr>
          <a:xfrm>
            <a:off x="210470" y="853623"/>
            <a:ext cx="4492810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 &amp; Performance</a:t>
            </a:r>
            <a:endParaRPr lang="en-US" sz="275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7573851-9E36-C9BF-2049-67CD73B234C7}"/>
              </a:ext>
            </a:extLst>
          </p:cNvPr>
          <p:cNvSpPr/>
          <p:nvPr/>
        </p:nvSpPr>
        <p:spPr>
          <a:xfrm>
            <a:off x="303336" y="612870"/>
            <a:ext cx="1064789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RESULTS</a:t>
            </a:r>
            <a:endParaRPr lang="en-US" sz="8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69F6EB7-8C2E-BA82-BB1A-B29245E6BA73}"/>
              </a:ext>
            </a:extLst>
          </p:cNvPr>
          <p:cNvSpPr/>
          <p:nvPr/>
        </p:nvSpPr>
        <p:spPr>
          <a:xfrm>
            <a:off x="900222" y="551601"/>
            <a:ext cx="992460" cy="256381"/>
          </a:xfrm>
          <a:prstGeom prst="roundRect">
            <a:avLst>
              <a:gd name="adj" fmla="val 18579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FF6ACAA-E5EF-5EC1-785E-0D1A9814B925}"/>
              </a:ext>
            </a:extLst>
          </p:cNvPr>
          <p:cNvSpPr/>
          <p:nvPr/>
        </p:nvSpPr>
        <p:spPr>
          <a:xfrm flipV="1">
            <a:off x="210471" y="1281696"/>
            <a:ext cx="8723059" cy="60580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E3683C2-8EFD-7E19-06F9-9488D4633039}"/>
              </a:ext>
            </a:extLst>
          </p:cNvPr>
          <p:cNvSpPr/>
          <p:nvPr/>
        </p:nvSpPr>
        <p:spPr>
          <a:xfrm>
            <a:off x="210470" y="1447029"/>
            <a:ext cx="2146252" cy="26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Ranking Quality</a:t>
            </a:r>
            <a:endParaRPr lang="en-US" sz="16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3238C0-C321-58EB-352E-78EB105350F0}"/>
              </a:ext>
            </a:extLst>
          </p:cNvPr>
          <p:cNvSpPr/>
          <p:nvPr/>
        </p:nvSpPr>
        <p:spPr>
          <a:xfrm>
            <a:off x="210470" y="1818999"/>
            <a:ext cx="4605459" cy="20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results or insights demonstrate ranking quality?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CD29883-4604-D7AA-CEA4-B5B9236C5F82}"/>
              </a:ext>
            </a:extLst>
          </p:cNvPr>
          <p:cNvSpPr/>
          <p:nvPr/>
        </p:nvSpPr>
        <p:spPr>
          <a:xfrm>
            <a:off x="210471" y="2172417"/>
            <a:ext cx="412726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0FE77D9-14D1-7D46-0FDE-94F61745023E}"/>
              </a:ext>
            </a:extLst>
          </p:cNvPr>
          <p:cNvSpPr/>
          <p:nvPr/>
        </p:nvSpPr>
        <p:spPr>
          <a:xfrm>
            <a:off x="210471" y="2345058"/>
            <a:ext cx="4127269" cy="135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 candidate profiles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953 high-relevance AI/ML candidates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ranks were dominated by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Search Engineers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ML Engineers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and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Recommendation Systems Engineers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Rankings aligned strongly with JD requirements and career evidence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recommendation included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ranking reasons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833671D-AF88-4E07-A4BE-1A31B72DE3AE}"/>
              </a:ext>
            </a:extLst>
          </p:cNvPr>
          <p:cNvSpPr/>
          <p:nvPr/>
        </p:nvSpPr>
        <p:spPr>
          <a:xfrm>
            <a:off x="4405131" y="1447028"/>
            <a:ext cx="3033051" cy="26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Runtime &amp; Compute Efficiency</a:t>
            </a:r>
            <a:endParaRPr lang="en-US" sz="16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76229B8-8C79-F899-0417-0572B4350DA1}"/>
              </a:ext>
            </a:extLst>
          </p:cNvPr>
          <p:cNvSpPr/>
          <p:nvPr/>
        </p:nvSpPr>
        <p:spPr>
          <a:xfrm>
            <a:off x="4405131" y="1818998"/>
            <a:ext cx="4949357" cy="288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the solution meet the challenge's runtime and compute constraints?</a:t>
            </a:r>
            <a:endParaRPr lang="en-US" sz="10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648B7A9-57EF-9940-F51E-949DAC4E323D}"/>
              </a:ext>
            </a:extLst>
          </p:cNvPr>
          <p:cNvSpPr/>
          <p:nvPr/>
        </p:nvSpPr>
        <p:spPr>
          <a:xfrm>
            <a:off x="4405132" y="2172416"/>
            <a:ext cx="412726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0181EB-5601-2DF2-B82B-9035B0044EB7}"/>
              </a:ext>
            </a:extLst>
          </p:cNvPr>
          <p:cNvSpPr/>
          <p:nvPr/>
        </p:nvSpPr>
        <p:spPr>
          <a:xfrm>
            <a:off x="4405132" y="2345057"/>
            <a:ext cx="4127269" cy="1153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Lightweight rule-based scoring engine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Efficient single-pass candidate processing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large model inference required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memory and compute usage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Scalable to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100K+ profiles</a:t>
            </a: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F41E4B5-7C29-19CD-A2FE-03657B815859}"/>
              </a:ext>
            </a:extLst>
          </p:cNvPr>
          <p:cNvSpPr/>
          <p:nvPr/>
        </p:nvSpPr>
        <p:spPr>
          <a:xfrm>
            <a:off x="210469" y="3684511"/>
            <a:ext cx="872305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7B1FFE8-CA78-6A76-1F49-D0477DA3DE4B}"/>
              </a:ext>
            </a:extLst>
          </p:cNvPr>
          <p:cNvSpPr/>
          <p:nvPr/>
        </p:nvSpPr>
        <p:spPr>
          <a:xfrm>
            <a:off x="210469" y="3794676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Key Metrics</a:t>
            </a:r>
            <a:endParaRPr lang="en-US" sz="16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28ECC1F-D2C9-B69E-C568-B69BFEF39950}"/>
              </a:ext>
            </a:extLst>
          </p:cNvPr>
          <p:cNvSpPr/>
          <p:nvPr/>
        </p:nvSpPr>
        <p:spPr>
          <a:xfrm>
            <a:off x="293592" y="4107122"/>
            <a:ext cx="1878193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100,000</a:t>
            </a:r>
            <a:endParaRPr lang="en-US" sz="365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947C609-5695-1DA5-F7F4-A8885D1207F8}"/>
              </a:ext>
            </a:extLst>
          </p:cNvPr>
          <p:cNvSpPr/>
          <p:nvPr/>
        </p:nvSpPr>
        <p:spPr>
          <a:xfrm>
            <a:off x="389038" y="47254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Profiles Processed</a:t>
            </a:r>
            <a:endParaRPr lang="en-US" sz="13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390F89-68FB-FA7D-CC67-515168708EC6}"/>
              </a:ext>
            </a:extLst>
          </p:cNvPr>
          <p:cNvSpPr/>
          <p:nvPr/>
        </p:nvSpPr>
        <p:spPr>
          <a:xfrm>
            <a:off x="2152183" y="4094522"/>
            <a:ext cx="1878288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953</a:t>
            </a:r>
            <a:endParaRPr lang="en-US" sz="36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9FBA2B6-3868-005D-55D2-70C406E2ED02}"/>
              </a:ext>
            </a:extLst>
          </p:cNvPr>
          <p:cNvSpPr/>
          <p:nvPr/>
        </p:nvSpPr>
        <p:spPr>
          <a:xfrm>
            <a:off x="2247728" y="47128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Relevant Candidates</a:t>
            </a:r>
            <a:endParaRPr lang="en-US" sz="13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C1C8062-E497-598F-9F08-26A9DFB9CA44}"/>
              </a:ext>
            </a:extLst>
          </p:cNvPr>
          <p:cNvSpPr/>
          <p:nvPr/>
        </p:nvSpPr>
        <p:spPr>
          <a:xfrm>
            <a:off x="4256203" y="4107122"/>
            <a:ext cx="1878288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140.81</a:t>
            </a:r>
            <a:endParaRPr lang="en-US" sz="36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0AD4322-1555-12F9-4235-88773C3AC6AD}"/>
              </a:ext>
            </a:extLst>
          </p:cNvPr>
          <p:cNvSpPr/>
          <p:nvPr/>
        </p:nvSpPr>
        <p:spPr>
          <a:xfrm>
            <a:off x="4351748" y="47254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Highest Score</a:t>
            </a:r>
            <a:endParaRPr lang="en-US" sz="13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6D70900-5351-8D02-218A-C752E675C745}"/>
              </a:ext>
            </a:extLst>
          </p:cNvPr>
          <p:cNvSpPr/>
          <p:nvPr/>
        </p:nvSpPr>
        <p:spPr>
          <a:xfrm>
            <a:off x="6523646" y="3977802"/>
            <a:ext cx="1963093" cy="467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Validated</a:t>
            </a:r>
            <a:endParaRPr lang="en-US" sz="36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72E7312-8B97-DA9B-8F18-FE5C052F12F7}"/>
              </a:ext>
            </a:extLst>
          </p:cNvPr>
          <p:cNvSpPr/>
          <p:nvPr/>
        </p:nvSpPr>
        <p:spPr>
          <a:xfrm>
            <a:off x="6619191" y="4596133"/>
            <a:ext cx="17720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Submission</a:t>
            </a:r>
            <a:endParaRPr lang="en-US" sz="13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F2C7D58-C962-81F3-7046-C250B14D9F1B}"/>
              </a:ext>
            </a:extLst>
          </p:cNvPr>
          <p:cNvSpPr/>
          <p:nvPr/>
        </p:nvSpPr>
        <p:spPr>
          <a:xfrm>
            <a:off x="6196430" y="4881288"/>
            <a:ext cx="261752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Successfully validated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7978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195542FC-2C66-DC64-3E6B-1FAF52F8A4ED}"/>
              </a:ext>
            </a:extLst>
          </p:cNvPr>
          <p:cNvSpPr/>
          <p:nvPr/>
        </p:nvSpPr>
        <p:spPr>
          <a:xfrm>
            <a:off x="68586" y="475059"/>
            <a:ext cx="725330" cy="241465"/>
          </a:xfrm>
          <a:prstGeom prst="roundRect">
            <a:avLst>
              <a:gd name="adj" fmla="val 20387"/>
            </a:avLst>
          </a:prstGeom>
          <a:solidFill>
            <a:srgbClr val="E1E1E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11E83E-F8D4-4F90-32F3-2134A264DE58}"/>
              </a:ext>
            </a:extLst>
          </p:cNvPr>
          <p:cNvSpPr/>
          <p:nvPr/>
        </p:nvSpPr>
        <p:spPr>
          <a:xfrm>
            <a:off x="141113" y="530231"/>
            <a:ext cx="1036933" cy="160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TECHNOLOGY</a:t>
            </a:r>
            <a:endParaRPr lang="en-US" sz="7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5D5848-DC48-701B-C885-9DD24BD88523}"/>
              </a:ext>
            </a:extLst>
          </p:cNvPr>
          <p:cNvSpPr/>
          <p:nvPr/>
        </p:nvSpPr>
        <p:spPr>
          <a:xfrm>
            <a:off x="985980" y="475059"/>
            <a:ext cx="463007" cy="249173"/>
          </a:xfrm>
          <a:prstGeom prst="roundRect">
            <a:avLst>
              <a:gd name="adj" fmla="val 19165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604EE2-D517-4FEA-BB1A-B239463F30BE}"/>
              </a:ext>
            </a:extLst>
          </p:cNvPr>
          <p:cNvSpPr/>
          <p:nvPr/>
        </p:nvSpPr>
        <p:spPr>
          <a:xfrm>
            <a:off x="1064858" y="539904"/>
            <a:ext cx="795473" cy="1766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7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STACK</a:t>
            </a:r>
            <a:endParaRPr lang="en-US" sz="7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9D852DE-E876-9814-1932-4B27E992ABA1}"/>
              </a:ext>
            </a:extLst>
          </p:cNvPr>
          <p:cNvSpPr/>
          <p:nvPr/>
        </p:nvSpPr>
        <p:spPr>
          <a:xfrm>
            <a:off x="35596" y="724232"/>
            <a:ext cx="3065840" cy="47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Technologies Used</a:t>
            </a:r>
            <a:endParaRPr lang="en-US" sz="23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A69B5-192D-D444-37CE-8F9390B3C6D4}"/>
              </a:ext>
            </a:extLst>
          </p:cNvPr>
          <p:cNvSpPr/>
          <p:nvPr/>
        </p:nvSpPr>
        <p:spPr>
          <a:xfrm>
            <a:off x="68586" y="1068879"/>
            <a:ext cx="9542635" cy="200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technologies, frameworks, and tools were used — and why were they selected for this solution?</a:t>
            </a:r>
            <a:endParaRPr lang="en-US" sz="9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3F7D8C0-A050-358B-6385-E1254065B24B}"/>
              </a:ext>
            </a:extLst>
          </p:cNvPr>
          <p:cNvSpPr/>
          <p:nvPr/>
        </p:nvSpPr>
        <p:spPr>
          <a:xfrm>
            <a:off x="57885" y="1254463"/>
            <a:ext cx="9028229" cy="45719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D1A57AF-C125-7D0A-C743-9DD1CC3B9F44}"/>
              </a:ext>
            </a:extLst>
          </p:cNvPr>
          <p:cNvSpPr/>
          <p:nvPr/>
        </p:nvSpPr>
        <p:spPr>
          <a:xfrm>
            <a:off x="68586" y="1062005"/>
            <a:ext cx="9028229" cy="2737113"/>
          </a:xfrm>
          <a:prstGeom prst="roundRect">
            <a:avLst>
              <a:gd name="adj" fmla="val 2342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5E40096-2478-3307-6309-F95E523FAC54}"/>
              </a:ext>
            </a:extLst>
          </p:cNvPr>
          <p:cNvSpPr/>
          <p:nvPr/>
        </p:nvSpPr>
        <p:spPr>
          <a:xfrm>
            <a:off x="68586" y="1322570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F28AFE-9398-E4D0-9FAA-27E7A43A429C}"/>
              </a:ext>
            </a:extLst>
          </p:cNvPr>
          <p:cNvSpPr/>
          <p:nvPr/>
        </p:nvSpPr>
        <p:spPr>
          <a:xfrm>
            <a:off x="3277538" y="1322570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Purpose</a:t>
            </a:r>
            <a:endParaRPr lang="en-US" sz="9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F5E52-1619-51EA-7B41-384DB64987FC}"/>
              </a:ext>
            </a:extLst>
          </p:cNvPr>
          <p:cNvSpPr/>
          <p:nvPr/>
        </p:nvSpPr>
        <p:spPr>
          <a:xfrm>
            <a:off x="68586" y="1592941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29FB697-6D77-96B4-FF6A-8B5E1DE00C63}"/>
              </a:ext>
            </a:extLst>
          </p:cNvPr>
          <p:cNvSpPr/>
          <p:nvPr/>
        </p:nvSpPr>
        <p:spPr>
          <a:xfrm>
            <a:off x="3277538" y="1592941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development and candidate ranking logic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73ACBDA-EA81-3A65-EEF3-8F59D789D976}"/>
              </a:ext>
            </a:extLst>
          </p:cNvPr>
          <p:cNvSpPr/>
          <p:nvPr/>
        </p:nvSpPr>
        <p:spPr>
          <a:xfrm>
            <a:off x="68586" y="1863312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JSON / JSONL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325C657-4D6A-BE46-9774-17B2DD31D0B7}"/>
              </a:ext>
            </a:extLst>
          </p:cNvPr>
          <p:cNvSpPr/>
          <p:nvPr/>
        </p:nvSpPr>
        <p:spPr>
          <a:xfrm>
            <a:off x="3277538" y="1863312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Processing large-scale candidate profile data</a:t>
            </a:r>
            <a:endParaRPr lang="en-US" sz="9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D096C0-05B6-953C-F652-4A6B4498AFE9}"/>
              </a:ext>
            </a:extLst>
          </p:cNvPr>
          <p:cNvSpPr/>
          <p:nvPr/>
        </p:nvSpPr>
        <p:spPr>
          <a:xfrm>
            <a:off x="68586" y="2133683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 Engine</a:t>
            </a:r>
            <a:endParaRPr lang="en-US" sz="9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94D0F0-09E2-6A8F-2C0E-897F44270CF0}"/>
              </a:ext>
            </a:extLst>
          </p:cNvPr>
          <p:cNvSpPr/>
          <p:nvPr/>
        </p:nvSpPr>
        <p:spPr>
          <a:xfrm>
            <a:off x="3277538" y="2133683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and explainable ranking decisions</a:t>
            </a:r>
            <a:endParaRPr lang="en-US" sz="9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9E8E4E1-73E1-0E7D-E5C8-E3A421A183F7}"/>
              </a:ext>
            </a:extLst>
          </p:cNvPr>
          <p:cNvSpPr/>
          <p:nvPr/>
        </p:nvSpPr>
        <p:spPr>
          <a:xfrm>
            <a:off x="68586" y="2404054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</a:t>
            </a:r>
            <a:endParaRPr lang="en-US" sz="9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C7C605A-726D-A341-2C2D-3B6EA84AC4BF}"/>
              </a:ext>
            </a:extLst>
          </p:cNvPr>
          <p:cNvSpPr/>
          <p:nvPr/>
        </p:nvSpPr>
        <p:spPr>
          <a:xfrm>
            <a:off x="3277538" y="2404054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handling and analysis</a:t>
            </a:r>
            <a:endParaRPr lang="en-US" sz="9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2A95D3-48AD-2B92-CE69-2E1EE3654A60}"/>
              </a:ext>
            </a:extLst>
          </p:cNvPr>
          <p:cNvSpPr/>
          <p:nvPr/>
        </p:nvSpPr>
        <p:spPr>
          <a:xfrm>
            <a:off x="68586" y="2674425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 Export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72F700-F5EB-EB14-2CB9-9D1D0EB2D116}"/>
              </a:ext>
            </a:extLst>
          </p:cNvPr>
          <p:cNvSpPr/>
          <p:nvPr/>
        </p:nvSpPr>
        <p:spPr>
          <a:xfrm>
            <a:off x="3277538" y="2674425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Submission file generation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3EC795A-D86C-11D0-BF74-D87FFD5CDC27}"/>
              </a:ext>
            </a:extLst>
          </p:cNvPr>
          <p:cNvSpPr/>
          <p:nvPr/>
        </p:nvSpPr>
        <p:spPr>
          <a:xfrm>
            <a:off x="68586" y="2944796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 &amp; GitHub</a:t>
            </a:r>
            <a:endParaRPr lang="en-US" sz="9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F8C74F3-8B34-4DE7-185D-0A22340DA341}"/>
              </a:ext>
            </a:extLst>
          </p:cNvPr>
          <p:cNvSpPr/>
          <p:nvPr/>
        </p:nvSpPr>
        <p:spPr>
          <a:xfrm>
            <a:off x="3277538" y="2944796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 control and project management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EE36179-9A7D-108E-393B-44DDDB7BCE47}"/>
              </a:ext>
            </a:extLst>
          </p:cNvPr>
          <p:cNvSpPr/>
          <p:nvPr/>
        </p:nvSpPr>
        <p:spPr>
          <a:xfrm>
            <a:off x="68586" y="3215167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 Code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FA8DF6F-4561-9AC5-0A96-55D1C31BE2A4}"/>
              </a:ext>
            </a:extLst>
          </p:cNvPr>
          <p:cNvSpPr/>
          <p:nvPr/>
        </p:nvSpPr>
        <p:spPr>
          <a:xfrm>
            <a:off x="3277538" y="3215167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Development and debugging environment</a:t>
            </a:r>
            <a:endParaRPr lang="en-US" sz="9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0E5A0DD-AECD-65DC-D525-2B4F79D861A8}"/>
              </a:ext>
            </a:extLst>
          </p:cNvPr>
          <p:cNvSpPr/>
          <p:nvPr/>
        </p:nvSpPr>
        <p:spPr>
          <a:xfrm>
            <a:off x="21383" y="3402695"/>
            <a:ext cx="9028229" cy="45719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EB4FBA6-A6B1-1F7F-FD14-E086C762E043}"/>
              </a:ext>
            </a:extLst>
          </p:cNvPr>
          <p:cNvSpPr/>
          <p:nvPr/>
        </p:nvSpPr>
        <p:spPr>
          <a:xfrm>
            <a:off x="57886" y="3494013"/>
            <a:ext cx="2410776" cy="286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These Technologies?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FFD0AFA-A470-DA14-AE66-060D5E063AC1}"/>
              </a:ext>
            </a:extLst>
          </p:cNvPr>
          <p:cNvSpPr/>
          <p:nvPr/>
        </p:nvSpPr>
        <p:spPr>
          <a:xfrm>
            <a:off x="57885" y="3708764"/>
            <a:ext cx="9028229" cy="902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enabled fast development and efficient data processing.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ensured explainability and transparency.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simplified large-scale data analysis.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supported version tracking and reproducibility.</a:t>
            </a:r>
            <a:endParaRPr lang="en-US" sz="9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14DEA4E-7FE3-C437-F088-EF44F4E82560}"/>
              </a:ext>
            </a:extLst>
          </p:cNvPr>
          <p:cNvSpPr/>
          <p:nvPr/>
        </p:nvSpPr>
        <p:spPr>
          <a:xfrm>
            <a:off x="68586" y="5222332"/>
            <a:ext cx="9028229" cy="45719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0DB407A-A8A1-3745-E867-49AA7C77A4C0}"/>
              </a:ext>
            </a:extLst>
          </p:cNvPr>
          <p:cNvSpPr/>
          <p:nvPr/>
        </p:nvSpPr>
        <p:spPr>
          <a:xfrm>
            <a:off x="68585" y="4397571"/>
            <a:ext cx="2045233" cy="286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Design Principle</a:t>
            </a:r>
            <a:endParaRPr lang="en-US" sz="14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28D761F-F917-E641-77D3-09D6051610C9}"/>
              </a:ext>
            </a:extLst>
          </p:cNvPr>
          <p:cNvSpPr/>
          <p:nvPr/>
        </p:nvSpPr>
        <p:spPr>
          <a:xfrm>
            <a:off x="68586" y="4663118"/>
            <a:ext cx="8783752" cy="657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• Explainable • Scalable • Compute Efficient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2DC43CDD-4B7A-9F6F-AF93-FE463149D3F9}"/>
              </a:ext>
            </a:extLst>
          </p:cNvPr>
          <p:cNvSpPr/>
          <p:nvPr/>
        </p:nvSpPr>
        <p:spPr>
          <a:xfrm>
            <a:off x="2261134" y="435776"/>
            <a:ext cx="4200916" cy="44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Submission Assets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898018-8E7B-B356-2533-3AC9673E506A}"/>
              </a:ext>
            </a:extLst>
          </p:cNvPr>
          <p:cNvSpPr/>
          <p:nvPr/>
        </p:nvSpPr>
        <p:spPr>
          <a:xfrm>
            <a:off x="133429" y="896994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4B375-5B61-DC29-F528-ED69C1213C7E}"/>
              </a:ext>
            </a:extLst>
          </p:cNvPr>
          <p:cNvSpPr/>
          <p:nvPr/>
        </p:nvSpPr>
        <p:spPr>
          <a:xfrm>
            <a:off x="-644328" y="940054"/>
            <a:ext cx="11478132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complete set of materials included for submission, review, and demonstration.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53BA466-F3C1-B712-4E40-68B09E8482FD}"/>
              </a:ext>
            </a:extLst>
          </p:cNvPr>
          <p:cNvSpPr/>
          <p:nvPr/>
        </p:nvSpPr>
        <p:spPr>
          <a:xfrm>
            <a:off x="133428" y="1290347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505A10-4285-6E57-5EF3-672DB8DCA396}"/>
              </a:ext>
            </a:extLst>
          </p:cNvPr>
          <p:cNvSpPr/>
          <p:nvPr/>
        </p:nvSpPr>
        <p:spPr>
          <a:xfrm>
            <a:off x="248818" y="1331726"/>
            <a:ext cx="3447269" cy="336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Included Deliverables</a:t>
            </a:r>
            <a:endParaRPr lang="en-US" sz="2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AF01856-63B5-E761-9D86-2024CA8F8DF0}"/>
              </a:ext>
            </a:extLst>
          </p:cNvPr>
          <p:cNvSpPr/>
          <p:nvPr/>
        </p:nvSpPr>
        <p:spPr>
          <a:xfrm>
            <a:off x="248818" y="1696191"/>
            <a:ext cx="10868547" cy="959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repository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source code and project documentation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Demonstration video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showcasing the solution and workflow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Supporting files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submission and review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A40E655-71D8-1147-8E51-203E5C8B9E5D}"/>
              </a:ext>
            </a:extLst>
          </p:cNvPr>
          <p:cNvSpPr/>
          <p:nvPr/>
        </p:nvSpPr>
        <p:spPr>
          <a:xfrm>
            <a:off x="133428" y="2750044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7B8BC8-201F-0266-134A-E8521B7B7C92}"/>
              </a:ext>
            </a:extLst>
          </p:cNvPr>
          <p:cNvSpPr/>
          <p:nvPr/>
        </p:nvSpPr>
        <p:spPr>
          <a:xfrm>
            <a:off x="248818" y="2837574"/>
            <a:ext cx="3678046" cy="336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Each Asset Shows</a:t>
            </a:r>
            <a:endParaRPr lang="en-US" sz="2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967DD3F-06C5-DD77-BF42-6BE203DF7483}"/>
              </a:ext>
            </a:extLst>
          </p:cNvPr>
          <p:cNvSpPr/>
          <p:nvPr/>
        </p:nvSpPr>
        <p:spPr>
          <a:xfrm>
            <a:off x="248818" y="3199311"/>
            <a:ext cx="10868547" cy="959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implementation details, version history, and reproducibility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Video: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end-to-end demonstration of the system in action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Files: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packaged materials for a complete and professional handoff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856</Words>
  <Application>Microsoft Office PowerPoint</Application>
  <PresentationFormat>On-screen Show (16:9)</PresentationFormat>
  <Paragraphs>168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Roboto</vt:lpstr>
      <vt:lpstr>Arial</vt:lpstr>
      <vt:lpstr>Raleway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Ayush Rajput</cp:lastModifiedBy>
  <cp:revision>2</cp:revision>
  <dcterms:modified xsi:type="dcterms:W3CDTF">2026-06-16T08:28:10Z</dcterms:modified>
</cp:coreProperties>
</file>