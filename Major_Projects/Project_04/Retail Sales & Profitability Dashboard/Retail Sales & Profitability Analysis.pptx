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4" r:id="rId1"/>
  </p:sldMasterIdLst>
  <p:sldIdLst>
    <p:sldId id="256" r:id="rId2"/>
    <p:sldId id="264" r:id="rId3"/>
    <p:sldId id="265" r:id="rId4"/>
    <p:sldId id="266" r:id="rId5"/>
    <p:sldId id="267" r:id="rId6"/>
    <p:sldId id="260" r:id="rId7"/>
    <p:sldId id="268" r:id="rId8"/>
    <p:sldId id="269" r:id="rId9"/>
    <p:sldId id="270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34606-1475-4ABE-ACF0-FC468CB547C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E35B6-3365-464E-8769-65043736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419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34606-1475-4ABE-ACF0-FC468CB547C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E35B6-3365-464E-8769-65043736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33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34606-1475-4ABE-ACF0-FC468CB547C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E35B6-3365-464E-8769-65043736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49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34606-1475-4ABE-ACF0-FC468CB547C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E35B6-3365-464E-8769-65043736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468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34606-1475-4ABE-ACF0-FC468CB547C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E35B6-3365-464E-8769-65043736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087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34606-1475-4ABE-ACF0-FC468CB547C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E35B6-3365-464E-8769-65043736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70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34606-1475-4ABE-ACF0-FC468CB547C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E35B6-3365-464E-8769-65043736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8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34606-1475-4ABE-ACF0-FC468CB547C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E35B6-3365-464E-8769-65043736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022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34606-1475-4ABE-ACF0-FC468CB547C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E35B6-3365-464E-8769-65043736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126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34606-1475-4ABE-ACF0-FC468CB547C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E35B6-3365-464E-8769-65043736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950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34606-1475-4ABE-ACF0-FC468CB547C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E35B6-3365-464E-8769-65043736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90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34606-1475-4ABE-ACF0-FC468CB547C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E35B6-3365-464E-8769-6504373661D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2449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34606-1475-4ABE-ACF0-FC468CB547C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E35B6-3365-464E-8769-65043736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415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34606-1475-4ABE-ACF0-FC468CB547C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E35B6-3365-464E-8769-65043736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58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34606-1475-4ABE-ACF0-FC468CB547C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E35B6-3365-464E-8769-65043736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63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34606-1475-4ABE-ACF0-FC468CB547C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E35B6-3365-464E-8769-65043736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139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34606-1475-4ABE-ACF0-FC468CB547C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E35B6-3365-464E-8769-65043736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838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5234606-1475-4ABE-ACF0-FC468CB547C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FDE35B6-3365-464E-8769-65043736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7147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  <p:sldLayoutId id="2147483967" r:id="rId13"/>
    <p:sldLayoutId id="2147483968" r:id="rId14"/>
    <p:sldLayoutId id="2147483969" r:id="rId15"/>
    <p:sldLayoutId id="2147483970" r:id="rId16"/>
    <p:sldLayoutId id="214748397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F5E68-7F8E-EF3A-9B4A-C19BFC61E1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055654"/>
            <a:ext cx="9448800" cy="1825096"/>
          </a:xfrm>
        </p:spPr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 Black" panose="02070A03080606020203" pitchFamily="18" charset="0"/>
              </a:rPr>
              <a:t>Retail Sales &amp; 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 Black" panose="02070A03080606020203" pitchFamily="18" charset="0"/>
              </a:rPr>
              <a:t>Profitability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 Black" panose="02070A03080606020203" pitchFamily="18" charset="0"/>
              </a:rPr>
              <a:t>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A7723-7EF5-2C77-F79B-7358D4DBE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0750"/>
            <a:ext cx="9448800" cy="685800"/>
          </a:xfrm>
        </p:spPr>
        <p:txBody>
          <a:bodyPr/>
          <a:lstStyle/>
          <a:p>
            <a:r>
              <a:rPr lang="en-US" dirty="0"/>
              <a:t>Business Intelligence Dashboard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D9838F-482F-8931-D6EB-8BA95FAC768B}"/>
              </a:ext>
            </a:extLst>
          </p:cNvPr>
          <p:cNvSpPr txBox="1"/>
          <p:nvPr/>
        </p:nvSpPr>
        <p:spPr>
          <a:xfrm>
            <a:off x="1178950" y="81995"/>
            <a:ext cx="340654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Ayush Rajput</a:t>
            </a:r>
          </a:p>
          <a:p>
            <a:r>
              <a:rPr lang="en-IN" dirty="0"/>
              <a:t>Data Analytics Project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2092034-2760-EC6F-DFC7-5AF4909C1D9C}"/>
              </a:ext>
            </a:extLst>
          </p:cNvPr>
          <p:cNvSpPr/>
          <p:nvPr/>
        </p:nvSpPr>
        <p:spPr>
          <a:xfrm>
            <a:off x="0" y="81995"/>
            <a:ext cx="1178950" cy="1066145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6CA7B2-9ED3-33C6-D14C-785EE9074D7E}"/>
              </a:ext>
            </a:extLst>
          </p:cNvPr>
          <p:cNvSpPr txBox="1"/>
          <p:nvPr/>
        </p:nvSpPr>
        <p:spPr>
          <a:xfrm>
            <a:off x="160420" y="6191591"/>
            <a:ext cx="4748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Tools: PostgreSQL | SQL | Power BI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79080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5FFA8-378C-EEAB-C2F7-9AAE1AF81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254000"/>
            <a:ext cx="9440034" cy="1049867"/>
          </a:xfrm>
        </p:spPr>
        <p:txBody>
          <a:bodyPr/>
          <a:lstStyle/>
          <a:p>
            <a:r>
              <a:rPr lang="en-US" dirty="0"/>
              <a:t>Business 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055693-3704-7DC8-0A32-9A19A9C65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793" y="1303867"/>
            <a:ext cx="10479134" cy="3877284"/>
          </a:xfrm>
        </p:spPr>
        <p:txBody>
          <a:bodyPr>
            <a:normAutofit/>
          </a:bodyPr>
          <a:lstStyle/>
          <a:p>
            <a:r>
              <a:rPr lang="en-IN" sz="2800" dirty="0"/>
              <a:t>The retail company was facing challenges in: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/>
              <a:t>Understanding profit fluctuations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/>
              <a:t>  Identifying low-performing regions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Managing high discount losses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/>
              <a:t>  Tracking category-wise profitability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400" dirty="0"/>
              <a:t>Monitoring customer segment performance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750C65-ACBC-58C9-486A-2564F8BF075B}"/>
              </a:ext>
            </a:extLst>
          </p:cNvPr>
          <p:cNvSpPr txBox="1"/>
          <p:nvPr/>
        </p:nvSpPr>
        <p:spPr>
          <a:xfrm>
            <a:off x="0" y="5470807"/>
            <a:ext cx="122080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Goal:</a:t>
            </a:r>
          </a:p>
          <a:p>
            <a:pPr algn="ctr"/>
            <a:r>
              <a:rPr lang="en-IN" sz="2400" dirty="0"/>
              <a:t>To use data analytics and dashboarding to identify business problems and generate actionable insights.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10984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487E7-2E9F-8731-E493-BA37D8DFD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Data Analytics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72617-F3FD-4923-F5A5-18C2D8E40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5182205" cy="4058751"/>
          </a:xfrm>
        </p:spPr>
        <p:txBody>
          <a:bodyPr/>
          <a:lstStyle/>
          <a:p>
            <a:r>
              <a:rPr lang="en-US" dirty="0"/>
              <a:t>Raw CSV Data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PostgreSQL Database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SQL Data Analysis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Power BI Dashboard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Business Insights &amp;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856ACF-CBA1-C96C-5110-1ADF20B3CAB9}"/>
              </a:ext>
            </a:extLst>
          </p:cNvPr>
          <p:cNvSpPr txBox="1"/>
          <p:nvPr/>
        </p:nvSpPr>
        <p:spPr>
          <a:xfrm>
            <a:off x="6096000" y="1890117"/>
            <a:ext cx="609600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Small explanation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Data imported into PostgreSQL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SQL used for business analysis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Power BI used for visualization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Insights generated for decision-making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993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187BD-7270-E663-BC39-6E4FAD7EA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Dataset Overview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509DD2-D379-1AB9-B651-BE1553030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601838"/>
              </p:ext>
            </p:extLst>
          </p:nvPr>
        </p:nvGraphicFramePr>
        <p:xfrm>
          <a:off x="347602" y="1580050"/>
          <a:ext cx="5743074" cy="3889002"/>
        </p:xfrm>
        <a:graphic>
          <a:graphicData uri="http://schemas.openxmlformats.org/drawingml/2006/table">
            <a:tbl>
              <a:tblPr/>
              <a:tblGrid>
                <a:gridCol w="2871537">
                  <a:extLst>
                    <a:ext uri="{9D8B030D-6E8A-4147-A177-3AD203B41FA5}">
                      <a16:colId xmlns:a16="http://schemas.microsoft.com/office/drawing/2014/main" val="79608187"/>
                    </a:ext>
                  </a:extLst>
                </a:gridCol>
                <a:gridCol w="2871537">
                  <a:extLst>
                    <a:ext uri="{9D8B030D-6E8A-4147-A177-3AD203B41FA5}">
                      <a16:colId xmlns:a16="http://schemas.microsoft.com/office/drawing/2014/main" val="1511419627"/>
                    </a:ext>
                  </a:extLst>
                </a:gridCol>
              </a:tblGrid>
              <a:tr h="648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392622"/>
                  </a:ext>
                </a:extLst>
              </a:tr>
              <a:tr h="648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Total 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9,994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341325"/>
                  </a:ext>
                </a:extLst>
              </a:tr>
              <a:tr h="648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Date 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2014–2017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925006"/>
                  </a:ext>
                </a:extLst>
              </a:tr>
              <a:tr h="648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Regions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43517"/>
                  </a:ext>
                </a:extLst>
              </a:tr>
              <a:tr h="648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Categories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319971"/>
                  </a:ext>
                </a:extLst>
              </a:tr>
              <a:tr h="648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Segments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3723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6BB46FA-9159-5C53-7F78-93AD610FD73C}"/>
              </a:ext>
            </a:extLst>
          </p:cNvPr>
          <p:cNvSpPr txBox="1"/>
          <p:nvPr/>
        </p:nvSpPr>
        <p:spPr>
          <a:xfrm>
            <a:off x="6513096" y="2037347"/>
            <a:ext cx="5331302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The dataset contains: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Sales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Profit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Discount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Customer segment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Product categories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Regional transaction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686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FBE65-6FAD-FCE2-19A6-F1154418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745547"/>
            <a:ext cx="10353762" cy="970450"/>
          </a:xfrm>
        </p:spPr>
        <p:txBody>
          <a:bodyPr/>
          <a:lstStyle/>
          <a:p>
            <a:r>
              <a:rPr lang="en-US" b="1" dirty="0"/>
              <a:t>SQL-Based Business Analysis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91DB2DF-6070-B0BB-1A99-C9B2D8A49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462" y="1351351"/>
            <a:ext cx="5069305" cy="4813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 Calculation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 Margin Analysis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Region-wise Profitability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Discount Impact Analysis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 Analysis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Sales Trend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7058CC-9676-27EB-CF74-929F674AB99E}"/>
              </a:ext>
            </a:extLst>
          </p:cNvPr>
          <p:cNvSpPr/>
          <p:nvPr/>
        </p:nvSpPr>
        <p:spPr>
          <a:xfrm>
            <a:off x="4536043" y="2080643"/>
            <a:ext cx="7283117" cy="3650006"/>
          </a:xfrm>
          <a:prstGeom prst="roundRect">
            <a:avLst/>
          </a:prstGeom>
          <a:blipFill dpi="0"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784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F27F2F4-6F7A-BB70-A65E-194098FCE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896"/>
            <a:ext cx="8401969" cy="64582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96F16D-7EDF-9FB1-7B0B-5C919E9EBE9A}"/>
              </a:ext>
            </a:extLst>
          </p:cNvPr>
          <p:cNvSpPr txBox="1"/>
          <p:nvPr/>
        </p:nvSpPr>
        <p:spPr>
          <a:xfrm>
            <a:off x="8151882" y="1639813"/>
            <a:ext cx="40401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Interactive Power BI Dashboard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5127B6-8566-F590-9880-20C9AE0C2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7326" y="2252604"/>
            <a:ext cx="330467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normalizeH="0" baseline="0" dirty="0">
              <a:ln/>
              <a:solidFill>
                <a:schemeClr val="accent3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normalizeH="0" baseline="0" dirty="0">
                <a:ln>
                  <a:solidFill>
                    <a:srgbClr val="7030A0"/>
                  </a:solidFill>
                </a:ln>
                <a:solidFill>
                  <a:schemeClr val="accent3"/>
                </a:solidFill>
                <a:latin typeface="Arial" panose="020B0604020202020204" pitchFamily="34" charset="0"/>
              </a:rPr>
              <a:t>KPI monitoring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normalizeH="0" baseline="0" dirty="0">
                <a:ln>
                  <a:solidFill>
                    <a:srgbClr val="7030A0"/>
                  </a:solidFill>
                </a:ln>
                <a:solidFill>
                  <a:schemeClr val="accent3"/>
                </a:solidFill>
                <a:latin typeface="Arial" panose="020B0604020202020204" pitchFamily="34" charset="0"/>
              </a:rPr>
              <a:t>Dynamic filtering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normalizeH="0" baseline="0" dirty="0">
                <a:ln>
                  <a:solidFill>
                    <a:srgbClr val="7030A0"/>
                  </a:solidFill>
                </a:ln>
                <a:solidFill>
                  <a:schemeClr val="accent3"/>
                </a:solidFill>
                <a:latin typeface="Arial" panose="020B0604020202020204" pitchFamily="34" charset="0"/>
              </a:rPr>
              <a:t>Trend visualization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normalizeH="0" baseline="0" dirty="0">
                <a:ln>
                  <a:solidFill>
                    <a:srgbClr val="7030A0"/>
                  </a:solidFill>
                </a:ln>
                <a:solidFill>
                  <a:schemeClr val="accent3"/>
                </a:solidFill>
                <a:latin typeface="Arial" panose="020B0604020202020204" pitchFamily="34" charset="0"/>
              </a:rPr>
              <a:t>Profitability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normalizeH="0" baseline="0" dirty="0">
                <a:ln>
                  <a:solidFill>
                    <a:srgbClr val="7030A0"/>
                  </a:solidFill>
                </a:ln>
                <a:solidFill>
                  <a:schemeClr val="accent3"/>
                </a:solidFill>
                <a:latin typeface="Arial" panose="020B0604020202020204" pitchFamily="34" charset="0"/>
              </a:rPr>
              <a:t>Interactive business exploration </a:t>
            </a:r>
          </a:p>
        </p:txBody>
      </p:sp>
    </p:spTree>
    <p:extLst>
      <p:ext uri="{BB962C8B-B14F-4D97-AF65-F5344CB8AC3E}">
        <p14:creationId xmlns:p14="http://schemas.microsoft.com/office/powerpoint/2010/main" val="2706516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BDCAC-8CB5-1517-7425-6ED0072F3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725" y="638120"/>
            <a:ext cx="9590550" cy="982133"/>
          </a:xfrm>
        </p:spPr>
        <p:txBody>
          <a:bodyPr/>
          <a:lstStyle/>
          <a:p>
            <a:r>
              <a:rPr lang="en-US" b="1" dirty="0"/>
              <a:t>Key Business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D92787-8A55-8D46-FB8B-2BBAA56C8C18}"/>
              </a:ext>
            </a:extLst>
          </p:cNvPr>
          <p:cNvSpPr txBox="1"/>
          <p:nvPr/>
        </p:nvSpPr>
        <p:spPr>
          <a:xfrm>
            <a:off x="1295401" y="1620253"/>
            <a:ext cx="11377862" cy="4017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									Insight</a:t>
            </a:r>
          </a:p>
          <a:p>
            <a:endParaRPr lang="en-US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Central region generated the lowest profitability.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Higher discounts significantly reduced profit margins.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Furniture category underperformed compared to Technology.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Consumer segment generated the highest profit contribution.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Technology category showed strongest overall performance.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62405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D4593-6ECF-9238-057A-697B6CDD3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834189"/>
            <a:ext cx="9590550" cy="814596"/>
          </a:xfrm>
        </p:spPr>
        <p:txBody>
          <a:bodyPr/>
          <a:lstStyle/>
          <a:p>
            <a:r>
              <a:rPr lang="en-US" b="1" dirty="0"/>
              <a:t>Strategic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50554-98D5-30AF-8F9A-68F744C24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033" y="1648785"/>
            <a:ext cx="9590550" cy="645237"/>
          </a:xfrm>
        </p:spPr>
        <p:txBody>
          <a:bodyPr>
            <a:normAutofit/>
          </a:bodyPr>
          <a:lstStyle/>
          <a:p>
            <a:r>
              <a:rPr lang="en-US" sz="3200" b="1" dirty="0"/>
              <a:t>Recommendations</a:t>
            </a:r>
            <a:endParaRPr lang="en-US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20A5C0-B891-B525-8FBF-9F23D90751E0}"/>
              </a:ext>
            </a:extLst>
          </p:cNvPr>
          <p:cNvSpPr txBox="1"/>
          <p:nvPr/>
        </p:nvSpPr>
        <p:spPr>
          <a:xfrm>
            <a:off x="2438400" y="2294022"/>
            <a:ext cx="911191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Reduce excessive discounting strategy.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sz="2400" dirty="0"/>
              <a:t>Improve operational performance in Central region.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Focus on high-profit product categories.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Strengthen retention strategy for Consumer customers.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Optimize pricing for low-performing furniture products</a:t>
            </a:r>
            <a:r>
              <a:rPr lang="en-IN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471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3E8EF-F4E0-0D3B-8EF8-42FD72D97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93396"/>
            <a:ext cx="9440034" cy="1171075"/>
          </a:xfrm>
        </p:spPr>
        <p:txBody>
          <a:bodyPr/>
          <a:lstStyle/>
          <a:p>
            <a:r>
              <a:rPr lang="en-US" dirty="0"/>
              <a:t>Project Outcome &amp;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F7BA88-6C1F-1706-B1E4-62CC0DFF2A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7617" y="1729844"/>
            <a:ext cx="5270740" cy="524482"/>
          </a:xfrm>
        </p:spPr>
        <p:txBody>
          <a:bodyPr>
            <a:normAutofit fontScale="92500" lnSpcReduction="10000"/>
          </a:bodyPr>
          <a:lstStyle/>
          <a:p>
            <a:r>
              <a:rPr lang="en-US" sz="3200" b="1" dirty="0"/>
              <a:t>This project demonstrates: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D5CE2BB-6206-DB7E-E143-D2D05449D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2841" y="1992085"/>
            <a:ext cx="7347284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SQL-based business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development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storytelling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 generation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decision support </a:t>
            </a:r>
          </a:p>
        </p:txBody>
      </p:sp>
    </p:spTree>
    <p:extLst>
      <p:ext uri="{BB962C8B-B14F-4D97-AF65-F5344CB8AC3E}">
        <p14:creationId xmlns:p14="http://schemas.microsoft.com/office/powerpoint/2010/main" val="3733924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A30AFE3-04DD-1DCE-9AFC-C7D5673F8DCE}"/>
              </a:ext>
            </a:extLst>
          </p:cNvPr>
          <p:cNvSpPr txBox="1"/>
          <p:nvPr/>
        </p:nvSpPr>
        <p:spPr>
          <a:xfrm>
            <a:off x="4197747" y="2967335"/>
            <a:ext cx="44659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Thank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2027FE-D68E-1CBB-1C6D-FD53E0AC2E6E}"/>
              </a:ext>
            </a:extLst>
          </p:cNvPr>
          <p:cNvSpPr txBox="1"/>
          <p:nvPr/>
        </p:nvSpPr>
        <p:spPr>
          <a:xfrm>
            <a:off x="2117558" y="1993141"/>
            <a:ext cx="79568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This project helped improve practical skills in data analytics and business intelligence.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977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826F61"/>
      </a:accent1>
      <a:accent2>
        <a:srgbClr val="A19C7F"/>
      </a:accent2>
      <a:accent3>
        <a:srgbClr val="9AA489"/>
      </a:accent3>
      <a:accent4>
        <a:srgbClr val="7C938B"/>
      </a:accent4>
      <a:accent5>
        <a:srgbClr val="7C7D92"/>
      </a:accent5>
      <a:accent6>
        <a:srgbClr val="897376"/>
      </a:accent6>
      <a:hlink>
        <a:srgbClr val="D29B73"/>
      </a:hlink>
      <a:folHlink>
        <a:srgbClr val="F4C5A4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223</TotalTime>
  <Words>297</Words>
  <Application>Microsoft Office PowerPoint</Application>
  <PresentationFormat>Widescreen</PresentationFormat>
  <Paragraphs>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Bodoni MT Black</vt:lpstr>
      <vt:lpstr>Calisto MT</vt:lpstr>
      <vt:lpstr>Wingdings 2</vt:lpstr>
      <vt:lpstr>Slate</vt:lpstr>
      <vt:lpstr>Retail Sales &amp; Profitability Analysis</vt:lpstr>
      <vt:lpstr>Business Problem Statement</vt:lpstr>
      <vt:lpstr>End-to-End Data Analytics Workflow</vt:lpstr>
      <vt:lpstr>Dataset Overview</vt:lpstr>
      <vt:lpstr>SQL-Based Business Analysis</vt:lpstr>
      <vt:lpstr>PowerPoint Presentation</vt:lpstr>
      <vt:lpstr>Key Business Insights</vt:lpstr>
      <vt:lpstr>Strategic Recommendations</vt:lpstr>
      <vt:lpstr>Project Outcome &amp; Learning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 Rajput</dc:creator>
  <cp:lastModifiedBy>Ayush Rajput</cp:lastModifiedBy>
  <cp:revision>3</cp:revision>
  <dcterms:created xsi:type="dcterms:W3CDTF">2026-05-15T13:22:50Z</dcterms:created>
  <dcterms:modified xsi:type="dcterms:W3CDTF">2026-05-23T10:37:14Z</dcterms:modified>
</cp:coreProperties>
</file>