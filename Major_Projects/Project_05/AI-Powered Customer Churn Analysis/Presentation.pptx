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797" r:id="rId1"/>
  </p:sldMasterIdLst>
  <p:notesMasterIdLst>
    <p:notesMasterId r:id="rId13"/>
  </p:notesMasterIdLst>
  <p:sldIdLst>
    <p:sldId id="269" r:id="rId2"/>
    <p:sldId id="257" r:id="rId3"/>
    <p:sldId id="258" r:id="rId4"/>
    <p:sldId id="259" r:id="rId5"/>
    <p:sldId id="260" r:id="rId6"/>
    <p:sldId id="261" r:id="rId7"/>
    <p:sldId id="262" r:id="rId8"/>
    <p:sldId id="263" r:id="rId9"/>
    <p:sldId id="264" r:id="rId10"/>
    <p:sldId id="265" r:id="rId11"/>
    <p:sldId id="267" r:id="rId12"/>
  </p:sldIdLst>
  <p:sldSz cx="9144000" cy="5143500" type="screen16x9"/>
  <p:notesSz cx="5143500" cy="9144000"/>
  <p:embeddedFontLst>
    <p:embeddedFont>
      <p:font typeface="Bookman Old Style" panose="02050604050505020204" pitchFamily="18" charset="0"/>
      <p:regular r:id="rId14"/>
      <p:bold r:id="rId15"/>
      <p:italic r:id="rId16"/>
      <p:boldItalic r:id="rId17"/>
    </p:embeddedFont>
    <p:embeddedFont>
      <p:font typeface="Roboto" panose="02000000000000000000" pitchFamily="2" charset="0"/>
      <p:regular r:id="rId18"/>
      <p:bold r:id="rId19"/>
    </p:embeddedFont>
    <p:embeddedFont>
      <p:font typeface="Roboto Light" panose="02000000000000000000" pitchFamily="2" charset="0"/>
      <p:regular r:id="rId20"/>
      <p:italic r:id="rId21"/>
    </p:embeddedFont>
    <p:embeddedFont>
      <p:font typeface="Roboto Medium" panose="02000000000000000000" pitchFamily="2" charset="0"/>
      <p:regular r:id="rId22"/>
    </p:embeddedFont>
    <p:embeddedFont>
      <p:font typeface="Rockwell" panose="02060603020205020403" pitchFamily="18" charset="0"/>
      <p:regular r:id="rId23"/>
      <p:bold r:id="rId24"/>
      <p:italic r:id="rId25"/>
      <p:boldItalic r:id="rId2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87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1.fntdata"/><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997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96452" y="841772"/>
            <a:ext cx="6751097" cy="1790700"/>
          </a:xfrm>
        </p:spPr>
        <p:txBody>
          <a:bodyPr anchor="b">
            <a:normAutofit/>
          </a:bodyPr>
          <a:lstStyle>
            <a:lvl1pPr algn="ctr">
              <a:defRPr sz="3600"/>
            </a:lvl1pPr>
          </a:lstStyle>
          <a:p>
            <a:r>
              <a:rPr lang="en-US"/>
              <a:t>Click to edit Master title style</a:t>
            </a:r>
            <a:endParaRPr lang="en-US" dirty="0"/>
          </a:p>
        </p:txBody>
      </p:sp>
      <p:sp>
        <p:nvSpPr>
          <p:cNvPr id="3" name="Subtitle 2"/>
          <p:cNvSpPr>
            <a:spLocks noGrp="1"/>
          </p:cNvSpPr>
          <p:nvPr>
            <p:ph type="subTitle" idx="1"/>
          </p:nvPr>
        </p:nvSpPr>
        <p:spPr>
          <a:xfrm>
            <a:off x="1196452" y="2701528"/>
            <a:ext cx="6751097"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04704283"/>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9775664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21933" y="492920"/>
            <a:ext cx="7300134" cy="2139553"/>
          </a:xfrm>
        </p:spPr>
        <p:txBody>
          <a:bodyPr anchor="b">
            <a:normAutofit/>
          </a:bodyPr>
          <a:lstStyle>
            <a:lvl1pPr>
              <a:defRPr sz="2550"/>
            </a:lvl1pPr>
          </a:lstStyle>
          <a:p>
            <a:r>
              <a:rPr lang="en-US"/>
              <a:t>Click to edit Master title style</a:t>
            </a:r>
            <a:endParaRPr lang="en-US" dirty="0"/>
          </a:p>
        </p:txBody>
      </p:sp>
      <p:sp>
        <p:nvSpPr>
          <p:cNvPr id="3" name="Text Placeholder 2"/>
          <p:cNvSpPr>
            <a:spLocks noGrp="1"/>
          </p:cNvSpPr>
          <p:nvPr>
            <p:ph type="body" idx="1"/>
          </p:nvPr>
        </p:nvSpPr>
        <p:spPr>
          <a:xfrm>
            <a:off x="921933" y="2701529"/>
            <a:ext cx="7300134" cy="1125140"/>
          </a:xfrm>
        </p:spPr>
        <p:txBody>
          <a:bodyPr/>
          <a:lstStyle>
            <a:lvl1pPr marL="0" indent="0" algn="ctr">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56327000"/>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0"/>
            <a:ext cx="7765321" cy="99474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685346" y="1566240"/>
            <a:ext cx="3829503" cy="2777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30052" y="1566240"/>
            <a:ext cx="3820616" cy="27771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8824135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5347" y="457201"/>
            <a:ext cx="7765321"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56354" y="1566240"/>
            <a:ext cx="3659399"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85346" y="2184174"/>
            <a:ext cx="3830406" cy="21592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01502" y="1566240"/>
            <a:ext cx="3649166" cy="617934"/>
          </a:xfrm>
        </p:spPr>
        <p:txBody>
          <a:bodyPr anchor="b"/>
          <a:lstStyle>
            <a:lvl1pPr marL="0" indent="0">
              <a:lnSpc>
                <a:spcPct val="100000"/>
              </a:lnSpc>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184174"/>
            <a:ext cx="3821518" cy="215922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46734125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4503654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95952233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2949178" cy="1771650"/>
          </a:xfrm>
        </p:spPr>
        <p:txBody>
          <a:bodyPr anchor="b">
            <a:normAutofit/>
          </a:bodyPr>
          <a:lstStyle>
            <a:lvl1pPr>
              <a:defRPr sz="2100"/>
            </a:lvl1pPr>
          </a:lstStyle>
          <a:p>
            <a:r>
              <a:rPr lang="en-US"/>
              <a:t>Click to edit Master title style</a:t>
            </a:r>
            <a:endParaRPr lang="en-US" dirty="0"/>
          </a:p>
        </p:txBody>
      </p:sp>
      <p:sp>
        <p:nvSpPr>
          <p:cNvPr id="3" name="Content Placeholder 2"/>
          <p:cNvSpPr>
            <a:spLocks noGrp="1"/>
          </p:cNvSpPr>
          <p:nvPr>
            <p:ph idx="1"/>
          </p:nvPr>
        </p:nvSpPr>
        <p:spPr>
          <a:xfrm>
            <a:off x="3808548" y="457200"/>
            <a:ext cx="4642119" cy="38862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7921" y="2228850"/>
            <a:ext cx="2949178" cy="2114549"/>
          </a:xfrm>
        </p:spPr>
        <p:txBody>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3304070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7921" y="457200"/>
            <a:ext cx="4447330" cy="1771650"/>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68603" y="569161"/>
            <a:ext cx="2441517" cy="3662279"/>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5" y="2228850"/>
            <a:ext cx="4451213" cy="2114550"/>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142917351"/>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55" y="3217030"/>
            <a:ext cx="7775673" cy="614516"/>
          </a:xfrm>
        </p:spPr>
        <p:txBody>
          <a:bodyPr anchor="b">
            <a:normAutofit/>
          </a:bodyPr>
          <a:lstStyle>
            <a:lvl1pPr>
              <a:defRPr sz="21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5355" y="465991"/>
            <a:ext cx="7775673" cy="2534801"/>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85346" y="3831546"/>
            <a:ext cx="7774499" cy="511854"/>
          </a:xfrm>
        </p:spPr>
        <p:txBody>
          <a:bodyPr>
            <a:normAutofit/>
          </a:bodyPr>
          <a:lstStyle>
            <a:lvl1pPr marL="0" indent="0" algn="ctr">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744354445"/>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457201"/>
            <a:ext cx="7765322" cy="2568644"/>
          </a:xfrm>
        </p:spPr>
        <p:txBody>
          <a:bodyPr anchor="ctr"/>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7" y="3153615"/>
            <a:ext cx="7765321" cy="1194140"/>
          </a:xfrm>
        </p:spPr>
        <p:txBody>
          <a:bodyPr anchor="ct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5614953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457200"/>
            <a:ext cx="6977064" cy="2244678"/>
          </a:xfrm>
        </p:spPr>
        <p:txBody>
          <a:bodyPr anchor="ctr"/>
          <a:lstStyle>
            <a:lvl1pPr>
              <a:defRPr sz="2400"/>
            </a:lvl1pPr>
          </a:lstStyle>
          <a:p>
            <a:r>
              <a:rPr lang="en-US"/>
              <a:t>Click to edit Master title style</a:t>
            </a:r>
            <a:endParaRPr lang="en-US" dirty="0"/>
          </a:p>
        </p:txBody>
      </p:sp>
      <p:sp>
        <p:nvSpPr>
          <p:cNvPr id="12" name="Text Placeholder 3"/>
          <p:cNvSpPr>
            <a:spLocks noGrp="1"/>
          </p:cNvSpPr>
          <p:nvPr>
            <p:ph type="body" sz="half" idx="13"/>
          </p:nvPr>
        </p:nvSpPr>
        <p:spPr>
          <a:xfrm>
            <a:off x="1290484" y="2707524"/>
            <a:ext cx="6564224" cy="320109"/>
          </a:xfrm>
        </p:spPr>
        <p:txBody>
          <a:bodyPr anchor="t">
            <a:normAutofit/>
          </a:bodyPr>
          <a:lstStyle>
            <a:lvl1pPr marL="0" indent="0" algn="r">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4" name="Text Placeholder 3"/>
          <p:cNvSpPr>
            <a:spLocks noGrp="1"/>
          </p:cNvSpPr>
          <p:nvPr>
            <p:ph type="body" sz="half" idx="2"/>
          </p:nvPr>
        </p:nvSpPr>
        <p:spPr>
          <a:xfrm>
            <a:off x="685345" y="3153616"/>
            <a:ext cx="7765322" cy="1189785"/>
          </a:xfrm>
        </p:spPr>
        <p:txBody>
          <a:bodyPr anchor="ctr">
            <a:normAutofit/>
          </a:bodyPr>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
        <p:nvSpPr>
          <p:cNvPr id="11" name="TextBox 10"/>
          <p:cNvSpPr txBox="1"/>
          <p:nvPr/>
        </p:nvSpPr>
        <p:spPr>
          <a:xfrm>
            <a:off x="627459" y="551431"/>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6000" dirty="0">
                <a:solidFill>
                  <a:schemeClr val="tx1"/>
                </a:solidFill>
                <a:effectLst/>
              </a:rPr>
              <a:t>“</a:t>
            </a:r>
          </a:p>
        </p:txBody>
      </p:sp>
      <p:sp>
        <p:nvSpPr>
          <p:cNvPr id="13" name="TextBox 12"/>
          <p:cNvSpPr txBox="1"/>
          <p:nvPr/>
        </p:nvSpPr>
        <p:spPr>
          <a:xfrm>
            <a:off x="7993467" y="2229070"/>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dirty="0">
                <a:solidFill>
                  <a:schemeClr val="tx1"/>
                </a:solidFill>
                <a:effectLst/>
              </a:rPr>
              <a:t>”</a:t>
            </a:r>
          </a:p>
        </p:txBody>
      </p:sp>
    </p:spTree>
    <p:extLst>
      <p:ext uri="{BB962C8B-B14F-4D97-AF65-F5344CB8AC3E}">
        <p14:creationId xmlns:p14="http://schemas.microsoft.com/office/powerpoint/2010/main" val="202091136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55" y="1595207"/>
            <a:ext cx="7766495" cy="1883876"/>
          </a:xfrm>
        </p:spPr>
        <p:txBody>
          <a:bodyPr anchor="b"/>
          <a:lstStyle>
            <a:lvl1pPr>
              <a:defRPr sz="2400"/>
            </a:lvl1pPr>
          </a:lstStyle>
          <a:p>
            <a:r>
              <a:rPr lang="en-US"/>
              <a:t>Click to edit Master title style</a:t>
            </a:r>
            <a:endParaRPr lang="en-US" dirty="0"/>
          </a:p>
        </p:txBody>
      </p:sp>
      <p:sp>
        <p:nvSpPr>
          <p:cNvPr id="4" name="Text Placeholder 3"/>
          <p:cNvSpPr>
            <a:spLocks noGrp="1"/>
          </p:cNvSpPr>
          <p:nvPr>
            <p:ph type="body" sz="half" idx="2"/>
          </p:nvPr>
        </p:nvSpPr>
        <p:spPr>
          <a:xfrm>
            <a:off x="685346" y="3487917"/>
            <a:ext cx="7765322" cy="855483"/>
          </a:xfrm>
        </p:spPr>
        <p:txBody>
          <a:bodyPr anchor="t"/>
          <a:lstStyle>
            <a:lvl1pPr marL="0" indent="0" algn="ctr">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19681537"/>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5" y="457201"/>
            <a:ext cx="7765322" cy="994172"/>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566240"/>
            <a:ext cx="2474217" cy="617479"/>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3"/>
          <p:cNvSpPr>
            <a:spLocks noGrp="1"/>
          </p:cNvSpPr>
          <p:nvPr>
            <p:ph type="body" sz="half" idx="15"/>
          </p:nvPr>
        </p:nvSpPr>
        <p:spPr>
          <a:xfrm>
            <a:off x="685346" y="2183718"/>
            <a:ext cx="2474217"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9" name="Text Placeholder 4"/>
          <p:cNvSpPr>
            <a:spLocks noGrp="1"/>
          </p:cNvSpPr>
          <p:nvPr>
            <p:ph type="body" sz="quarter" idx="3"/>
          </p:nvPr>
        </p:nvSpPr>
        <p:spPr>
          <a:xfrm>
            <a:off x="3333658" y="1566240"/>
            <a:ext cx="2473919"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3"/>
          <p:cNvSpPr>
            <a:spLocks noGrp="1"/>
          </p:cNvSpPr>
          <p:nvPr>
            <p:ph type="body" sz="half" idx="16"/>
          </p:nvPr>
        </p:nvSpPr>
        <p:spPr>
          <a:xfrm>
            <a:off x="3333659" y="2183718"/>
            <a:ext cx="2474866"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4"/>
          <p:cNvSpPr>
            <a:spLocks noGrp="1"/>
          </p:cNvSpPr>
          <p:nvPr>
            <p:ph type="body" sz="quarter" idx="13"/>
          </p:nvPr>
        </p:nvSpPr>
        <p:spPr>
          <a:xfrm>
            <a:off x="5979974" y="1566240"/>
            <a:ext cx="2468408" cy="617478"/>
          </a:xfrm>
        </p:spPr>
        <p:txBody>
          <a:bodyPr anchor="b">
            <a:noAutofit/>
          </a:bodyPr>
          <a:lstStyle>
            <a:lvl1pPr marL="0" indent="0" algn="ctr">
              <a:lnSpc>
                <a:spcPct val="100000"/>
              </a:lnSpc>
              <a:buNone/>
              <a:defRPr sz="18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Text Placeholder 3"/>
          <p:cNvSpPr>
            <a:spLocks noGrp="1"/>
          </p:cNvSpPr>
          <p:nvPr>
            <p:ph type="body" sz="half" idx="17"/>
          </p:nvPr>
        </p:nvSpPr>
        <p:spPr>
          <a:xfrm>
            <a:off x="5982260" y="2183718"/>
            <a:ext cx="2468408" cy="2159682"/>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9034258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685346" y="457201"/>
            <a:ext cx="7765322" cy="99417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7" y="3146924"/>
            <a:ext cx="2474216"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0" name="Picture Placeholder 2"/>
          <p:cNvSpPr>
            <a:spLocks noGrp="1" noChangeAspect="1"/>
          </p:cNvSpPr>
          <p:nvPr>
            <p:ph type="pic" idx="15"/>
          </p:nvPr>
        </p:nvSpPr>
        <p:spPr>
          <a:xfrm>
            <a:off x="819015" y="1724240"/>
            <a:ext cx="2205038"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1" name="Text Placeholder 3"/>
          <p:cNvSpPr>
            <a:spLocks noGrp="1"/>
          </p:cNvSpPr>
          <p:nvPr>
            <p:ph type="body" sz="half" idx="18"/>
          </p:nvPr>
        </p:nvSpPr>
        <p:spPr>
          <a:xfrm>
            <a:off x="685347" y="3579121"/>
            <a:ext cx="2474216"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2" name="Text Placeholder 4"/>
          <p:cNvSpPr>
            <a:spLocks noGrp="1"/>
          </p:cNvSpPr>
          <p:nvPr>
            <p:ph type="body" sz="quarter" idx="3"/>
          </p:nvPr>
        </p:nvSpPr>
        <p:spPr>
          <a:xfrm>
            <a:off x="3332026" y="3146924"/>
            <a:ext cx="2474237"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3" name="Picture Placeholder 2"/>
          <p:cNvSpPr>
            <a:spLocks noGrp="1" noChangeAspect="1"/>
          </p:cNvSpPr>
          <p:nvPr>
            <p:ph type="pic" idx="21"/>
          </p:nvPr>
        </p:nvSpPr>
        <p:spPr>
          <a:xfrm>
            <a:off x="3426747" y="1724240"/>
            <a:ext cx="2197894"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4" name="Text Placeholder 3"/>
          <p:cNvSpPr>
            <a:spLocks noGrp="1"/>
          </p:cNvSpPr>
          <p:nvPr>
            <p:ph type="body" sz="half" idx="19"/>
          </p:nvPr>
        </p:nvSpPr>
        <p:spPr>
          <a:xfrm>
            <a:off x="3331011" y="3579120"/>
            <a:ext cx="2475252" cy="764279"/>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25" name="Text Placeholder 4"/>
          <p:cNvSpPr>
            <a:spLocks noGrp="1"/>
          </p:cNvSpPr>
          <p:nvPr>
            <p:ph type="body" sz="quarter" idx="13"/>
          </p:nvPr>
        </p:nvSpPr>
        <p:spPr>
          <a:xfrm>
            <a:off x="5980067" y="3146924"/>
            <a:ext cx="2467425" cy="432197"/>
          </a:xfrm>
        </p:spPr>
        <p:txBody>
          <a:bodyPr anchor="b">
            <a:noAutofit/>
          </a:bodyPr>
          <a:lstStyle>
            <a:lvl1pPr marL="0" indent="0" algn="ctr">
              <a:lnSpc>
                <a:spcPct val="100000"/>
              </a:lnSpc>
              <a:buNone/>
              <a:defRPr sz="15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26" name="Picture Placeholder 2"/>
          <p:cNvSpPr>
            <a:spLocks noGrp="1" noChangeAspect="1"/>
          </p:cNvSpPr>
          <p:nvPr>
            <p:ph type="pic" idx="22"/>
          </p:nvPr>
        </p:nvSpPr>
        <p:spPr>
          <a:xfrm>
            <a:off x="6114603" y="1724240"/>
            <a:ext cx="2199085" cy="1143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27" name="Text Placeholder 3"/>
          <p:cNvSpPr>
            <a:spLocks noGrp="1"/>
          </p:cNvSpPr>
          <p:nvPr>
            <p:ph type="body" sz="half" idx="20"/>
          </p:nvPr>
        </p:nvSpPr>
        <p:spPr>
          <a:xfrm>
            <a:off x="5979973" y="3579121"/>
            <a:ext cx="2470694" cy="764278"/>
          </a:xfrm>
        </p:spPr>
        <p:txBody>
          <a:bodyPr anchor="t">
            <a:normAutofit/>
          </a:bodyPr>
          <a:lstStyle>
            <a:lvl1pPr marL="0" indent="0" algn="ctr">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3" name="Date Placeholder 2"/>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69359285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911593922"/>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457200"/>
            <a:ext cx="1906993" cy="38862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6" y="457200"/>
            <a:ext cx="5744029" cy="3886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6/17/2026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810945104"/>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master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1725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7" y="457200"/>
            <a:ext cx="7765321" cy="99474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572048"/>
            <a:ext cx="7765322" cy="27713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4412457"/>
            <a:ext cx="2057400"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C764DE79-268F-4C1A-8933-263129D2AF90}" type="datetimeFigureOut">
              <a:rPr lang="en-US" smtClean="0"/>
              <a:t>6/17/2026</a:t>
            </a:fld>
            <a:endParaRPr lang="en-US" dirty="0"/>
          </a:p>
        </p:txBody>
      </p:sp>
      <p:sp>
        <p:nvSpPr>
          <p:cNvPr id="5" name="Footer Placeholder 4"/>
          <p:cNvSpPr>
            <a:spLocks noGrp="1"/>
          </p:cNvSpPr>
          <p:nvPr>
            <p:ph type="ftr" sz="quarter" idx="3"/>
          </p:nvPr>
        </p:nvSpPr>
        <p:spPr>
          <a:xfrm>
            <a:off x="685346" y="4412457"/>
            <a:ext cx="5004649" cy="273844"/>
          </a:xfrm>
          <a:prstGeom prst="rect">
            <a:avLst/>
          </a:prstGeom>
        </p:spPr>
        <p:txBody>
          <a:bodyPr vert="horz" lIns="91440" tIns="45720" rIns="91440" bIns="45720" rtlCol="0" anchor="ctr"/>
          <a:lstStyle>
            <a:lvl1pPr algn="l">
              <a:defRPr sz="7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7885509" y="4412457"/>
            <a:ext cx="565159" cy="273844"/>
          </a:xfrm>
          <a:prstGeom prst="rect">
            <a:avLst/>
          </a:prstGeom>
        </p:spPr>
        <p:txBody>
          <a:bodyPr vert="horz" lIns="91440" tIns="45720" rIns="91440" bIns="45720" rtlCol="0" anchor="ctr"/>
          <a:lstStyle>
            <a:lvl1pPr algn="r">
              <a:defRPr sz="75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2056560687"/>
      </p:ext>
    </p:extLst>
  </p:cSld>
  <p:clrMap bg1="dk1" tx1="lt1" bg2="dk2" tx2="lt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07" r:id="rId10"/>
    <p:sldLayoutId id="2147483808" r:id="rId11"/>
    <p:sldLayoutId id="2147483809" r:id="rId12"/>
    <p:sldLayoutId id="2147483810" r:id="rId13"/>
    <p:sldLayoutId id="2147483811" r:id="rId14"/>
    <p:sldLayoutId id="2147483812" r:id="rId15"/>
    <p:sldLayoutId id="2147483813" r:id="rId16"/>
    <p:sldLayoutId id="2147483814" r:id="rId17"/>
    <p:sldLayoutId id="2147483815" r:id="rId18"/>
  </p:sldLayoutIdLst>
  <p:hf sldNum="0" hdr="0" ftr="0" dt="0"/>
  <p:txStyles>
    <p:titleStyle>
      <a:lvl1pPr algn="ctr" defTabSz="685800" rtl="0" eaLnBrk="1" latinLnBrk="0" hangingPunct="1">
        <a:lnSpc>
          <a:spcPct val="90000"/>
        </a:lnSpc>
        <a:spcBef>
          <a:spcPct val="0"/>
        </a:spcBef>
        <a:buNone/>
        <a:defRPr sz="255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171450" indent="-171450" algn="l" defTabSz="685800" rtl="0" eaLnBrk="1" latinLnBrk="0" hangingPunct="1">
        <a:lnSpc>
          <a:spcPct val="120000"/>
        </a:lnSpc>
        <a:spcBef>
          <a:spcPts val="750"/>
        </a:spcBef>
        <a:buFont typeface="Arial" panose="020B0604020202020204" pitchFamily="34" charset="0"/>
        <a:buChar char="•"/>
        <a:defRPr sz="1500" kern="1200">
          <a:solidFill>
            <a:schemeClr val="tx1"/>
          </a:solidFill>
          <a:effectLst>
            <a:outerShdw blurRad="50800" dist="38100" dir="2700000" algn="tl" rotWithShape="0">
              <a:srgbClr val="000000">
                <a:alpha val="48000"/>
              </a:srgbClr>
            </a:outerShdw>
          </a:effectLst>
          <a:latin typeface="+mn-lt"/>
          <a:ea typeface="+mn-ea"/>
          <a:cs typeface="+mn-cs"/>
        </a:defRPr>
      </a:lvl1pPr>
      <a:lvl2pPr marL="514350" indent="-171450" algn="l" defTabSz="685800" rtl="0" eaLnBrk="1" latinLnBrk="0" hangingPunct="1">
        <a:lnSpc>
          <a:spcPct val="120000"/>
        </a:lnSpc>
        <a:spcBef>
          <a:spcPts val="375"/>
        </a:spcBef>
        <a:buFont typeface="Arial" panose="020B0604020202020204" pitchFamily="34" charset="0"/>
        <a:buChar char="•"/>
        <a:defRPr sz="1350" kern="1200">
          <a:solidFill>
            <a:schemeClr val="tx1"/>
          </a:solidFill>
          <a:effectLst>
            <a:outerShdw blurRad="50800" dist="38100" dir="2700000" algn="tl" rotWithShape="0">
              <a:srgbClr val="000000">
                <a:alpha val="48000"/>
              </a:srgbClr>
            </a:outerShdw>
          </a:effectLst>
          <a:latin typeface="+mn-lt"/>
          <a:ea typeface="+mn-ea"/>
          <a:cs typeface="+mn-cs"/>
        </a:defRPr>
      </a:lvl2pPr>
      <a:lvl3pPr marL="857250" indent="-171450" algn="l" defTabSz="685800" rtl="0" eaLnBrk="1" latinLnBrk="0" hangingPunct="1">
        <a:lnSpc>
          <a:spcPct val="120000"/>
        </a:lnSpc>
        <a:spcBef>
          <a:spcPts val="375"/>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200150" indent="-171450" algn="l" defTabSz="685800" rtl="0" eaLnBrk="1" latinLnBrk="0" hangingPunct="1">
        <a:lnSpc>
          <a:spcPct val="120000"/>
        </a:lnSpc>
        <a:spcBef>
          <a:spcPts val="375"/>
        </a:spcBef>
        <a:buFont typeface="Arial" panose="020B0604020202020204" pitchFamily="34" charset="0"/>
        <a:buChar char="•"/>
        <a:defRPr sz="1050" kern="1200">
          <a:solidFill>
            <a:schemeClr val="tx1"/>
          </a:solidFill>
          <a:effectLst>
            <a:outerShdw blurRad="50800" dist="38100" dir="2700000" algn="tl" rotWithShape="0">
              <a:srgbClr val="000000">
                <a:alpha val="48000"/>
              </a:srgbClr>
            </a:outerShdw>
          </a:effectLst>
          <a:latin typeface="+mn-lt"/>
          <a:ea typeface="+mn-ea"/>
          <a:cs typeface="+mn-cs"/>
        </a:defRPr>
      </a:lvl4pPr>
      <a:lvl5pPr marL="15430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5pPr>
      <a:lvl6pPr marL="18859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2288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7pPr>
      <a:lvl8pPr marL="25717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8pPr>
      <a:lvl9pPr marL="2914650" indent="-171450" algn="l" defTabSz="685800" rtl="0" eaLnBrk="1" latinLnBrk="0" hangingPunct="1">
        <a:lnSpc>
          <a:spcPct val="120000"/>
        </a:lnSpc>
        <a:spcBef>
          <a:spcPts val="375"/>
        </a:spcBef>
        <a:buFont typeface="Arial" panose="020B0604020202020204" pitchFamily="34" charset="0"/>
        <a:buChar char="•"/>
        <a:defRPr sz="9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8.xml"/><Relationship Id="rId6" Type="http://schemas.openxmlformats.org/officeDocument/2006/relationships/image" Target="../media/image18.svg"/><Relationship Id="rId5" Type="http://schemas.openxmlformats.org/officeDocument/2006/relationships/image" Target="../media/image17.svg"/><Relationship Id="rId4" Type="http://schemas.openxmlformats.org/officeDocument/2006/relationships/image" Target="../media/image16.svg"/></Relationships>
</file>

<file path=ppt/slides/_rels/slide7.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21.png"/><Relationship Id="rId7" Type="http://schemas.openxmlformats.org/officeDocument/2006/relationships/image" Target="../media/image25.sv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24.svg"/><Relationship Id="rId5" Type="http://schemas.openxmlformats.org/officeDocument/2006/relationships/image" Target="../media/image23.svg"/><Relationship Id="rId4" Type="http://schemas.openxmlformats.org/officeDocument/2006/relationships/image" Target="../media/image22.sv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8.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8.xml"/><Relationship Id="rId1" Type="http://schemas.openxmlformats.org/officeDocument/2006/relationships/slideLayout" Target="../slideLayouts/slideLayout18.xml"/><Relationship Id="rId5" Type="http://schemas.openxmlformats.org/officeDocument/2006/relationships/image" Target="../media/image31.png"/><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D3CA159-9706-C54C-7966-FA89E127E406}"/>
              </a:ext>
            </a:extLst>
          </p:cNvPr>
          <p:cNvPicPr>
            <a:picLocks noChangeAspect="1"/>
          </p:cNvPicPr>
          <p:nvPr/>
        </p:nvPicPr>
        <p:blipFill>
          <a:blip r:embed="rId2"/>
          <a:stretch>
            <a:fillRect/>
          </a:stretch>
        </p:blipFill>
        <p:spPr>
          <a:xfrm>
            <a:off x="2429" y="0"/>
            <a:ext cx="9139141" cy="5143500"/>
          </a:xfrm>
          <a:prstGeom prst="rect">
            <a:avLst/>
          </a:prstGeom>
        </p:spPr>
      </p:pic>
    </p:spTree>
    <p:extLst>
      <p:ext uri="{BB962C8B-B14F-4D97-AF65-F5344CB8AC3E}">
        <p14:creationId xmlns:p14="http://schemas.microsoft.com/office/powerpoint/2010/main" val="1553108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36929" y="0"/>
            <a:ext cx="3310830" cy="4966246"/>
          </a:xfrm>
          <a:prstGeom prst="rect">
            <a:avLst/>
          </a:prstGeom>
        </p:spPr>
      </p:pic>
      <p:sp>
        <p:nvSpPr>
          <p:cNvPr id="4" name="Text 1"/>
          <p:cNvSpPr/>
          <p:nvPr/>
        </p:nvSpPr>
        <p:spPr>
          <a:xfrm>
            <a:off x="496119" y="417686"/>
            <a:ext cx="3627090" cy="295573"/>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Roboto Medium" pitchFamily="34" charset="0"/>
                <a:ea typeface="Roboto Medium" pitchFamily="34" charset="-122"/>
                <a:cs typeface="Roboto Medium" pitchFamily="34" charset="-120"/>
              </a:rPr>
              <a:t>Business Problem &amp; Objective</a:t>
            </a:r>
            <a:endParaRPr lang="en-US" sz="1850" dirty="0"/>
          </a:p>
        </p:txBody>
      </p:sp>
      <p:sp>
        <p:nvSpPr>
          <p:cNvPr id="5" name="Text 2"/>
          <p:cNvSpPr/>
          <p:nvPr/>
        </p:nvSpPr>
        <p:spPr>
          <a:xfrm>
            <a:off x="496119" y="882253"/>
            <a:ext cx="4722763" cy="738783"/>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 Telecommunication providers are losing recurring revenue to churn, with 7,043 total customers and a churn rate of 26.54%—the core business challenge highlighted by this analysis. With average monthly charges of $64.76, even a small reduction in churn can meaningfully improve retention and lifetime value. </a:t>
            </a:r>
            <a:endParaRPr lang="en-US" sz="900" dirty="0"/>
          </a:p>
        </p:txBody>
      </p:sp>
      <p:sp>
        <p:nvSpPr>
          <p:cNvPr id="7" name="Text 4"/>
          <p:cNvSpPr/>
          <p:nvPr/>
        </p:nvSpPr>
        <p:spPr>
          <a:xfrm>
            <a:off x="619051" y="1870695"/>
            <a:ext cx="1253282"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Problem</a:t>
            </a:r>
            <a:endParaRPr lang="en-US" sz="1150" dirty="0"/>
          </a:p>
        </p:txBody>
      </p:sp>
      <p:sp>
        <p:nvSpPr>
          <p:cNvPr id="8" name="Text 5"/>
          <p:cNvSpPr/>
          <p:nvPr/>
        </p:nvSpPr>
        <p:spPr>
          <a:xfrm>
            <a:off x="619051" y="2122959"/>
            <a:ext cx="1253282" cy="1108174"/>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A 26.54% churn rate means nearly 1 in 4 customers are leaving, creating avoidable revenue loss and higher acquisition costs.</a:t>
            </a:r>
            <a:endParaRPr lang="en-US" sz="900" dirty="0"/>
          </a:p>
        </p:txBody>
      </p:sp>
      <p:sp>
        <p:nvSpPr>
          <p:cNvPr id="10" name="Text 7"/>
          <p:cNvSpPr/>
          <p:nvPr/>
        </p:nvSpPr>
        <p:spPr>
          <a:xfrm>
            <a:off x="2230859" y="1870695"/>
            <a:ext cx="1253282"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Primary Objectives</a:t>
            </a:r>
            <a:endParaRPr lang="en-US" sz="1150" dirty="0"/>
          </a:p>
        </p:txBody>
      </p:sp>
      <p:sp>
        <p:nvSpPr>
          <p:cNvPr id="11" name="Text 8"/>
          <p:cNvSpPr/>
          <p:nvPr/>
        </p:nvSpPr>
        <p:spPr>
          <a:xfrm>
            <a:off x="2230859" y="2122959"/>
            <a:ext cx="1253282" cy="2479923"/>
          </a:xfrm>
          <a:prstGeom prst="rect">
            <a:avLst/>
          </a:prstGeom>
          <a:noFill/>
          <a:ln/>
        </p:spPr>
        <p:txBody>
          <a:bodyPr wrap="square" lIns="0" tIns="0" rIns="0" bIns="0" rtlCol="0" anchor="t">
            <a:normAutofit lnSpcReduction="10000"/>
          </a:bodyPr>
          <a:lstStyle/>
          <a:p>
            <a:pPr marL="342900" indent="-342900" algn="l">
              <a:lnSpc>
                <a:spcPct val="130000"/>
              </a:lnSpc>
              <a:buSzPct val="100000"/>
              <a:buChar char="•"/>
            </a:pPr>
            <a:r>
              <a:rPr lang="en-US" sz="900" dirty="0">
                <a:solidFill>
                  <a:srgbClr val="CFD0D8"/>
                </a:solidFill>
                <a:latin typeface="Roboto" pitchFamily="34" charset="0"/>
                <a:ea typeface="Roboto" pitchFamily="34" charset="-122"/>
                <a:cs typeface="Roboto" pitchFamily="34" charset="-120"/>
              </a:rPr>
              <a:t>Understand which customers are at highest risk of leaving</a:t>
            </a:r>
            <a:endParaRPr lang="en-US" sz="900" dirty="0"/>
          </a:p>
          <a:p>
            <a:pPr marL="342900" indent="-342900" algn="l">
              <a:lnSpc>
                <a:spcPct val="130000"/>
              </a:lnSpc>
              <a:buSzPct val="100000"/>
              <a:buChar char="•"/>
            </a:pPr>
            <a:r>
              <a:rPr lang="en-US" sz="900" dirty="0">
                <a:solidFill>
                  <a:srgbClr val="CFD0D8"/>
                </a:solidFill>
                <a:latin typeface="Roboto" pitchFamily="34" charset="0"/>
                <a:ea typeface="Roboto" pitchFamily="34" charset="-122"/>
                <a:cs typeface="Roboto" pitchFamily="34" charset="-120"/>
              </a:rPr>
              <a:t>Quantify feature-level churn drivers (tenure, charges, contract)</a:t>
            </a:r>
            <a:endParaRPr lang="en-US" sz="900" dirty="0"/>
          </a:p>
          <a:p>
            <a:pPr marL="342900" indent="-342900" algn="l">
              <a:lnSpc>
                <a:spcPct val="130000"/>
              </a:lnSpc>
              <a:buSzPct val="100000"/>
              <a:buChar char="•"/>
            </a:pPr>
            <a:r>
              <a:rPr lang="en-US" sz="900" dirty="0">
                <a:solidFill>
                  <a:srgbClr val="CFD0D8"/>
                </a:solidFill>
                <a:latin typeface="Roboto" pitchFamily="34" charset="0"/>
                <a:ea typeface="Roboto" pitchFamily="34" charset="-122"/>
                <a:cs typeface="Roboto" pitchFamily="34" charset="-120"/>
              </a:rPr>
              <a:t>Deliver concrete retention recommendations tied to business levers</a:t>
            </a:r>
            <a:endParaRPr lang="en-US" sz="900" dirty="0"/>
          </a:p>
        </p:txBody>
      </p:sp>
      <p:sp>
        <p:nvSpPr>
          <p:cNvPr id="13" name="Text 10"/>
          <p:cNvSpPr/>
          <p:nvPr/>
        </p:nvSpPr>
        <p:spPr>
          <a:xfrm>
            <a:off x="3842668" y="1870695"/>
            <a:ext cx="1253282"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Business Impact</a:t>
            </a:r>
            <a:endParaRPr lang="en-US" sz="1150" dirty="0"/>
          </a:p>
        </p:txBody>
      </p:sp>
      <p:sp>
        <p:nvSpPr>
          <p:cNvPr id="14" name="Text 11"/>
          <p:cNvSpPr/>
          <p:nvPr/>
        </p:nvSpPr>
        <p:spPr>
          <a:xfrm>
            <a:off x="3842668" y="2122959"/>
            <a:ext cx="1253282" cy="1292870"/>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Lower churn by targeting high-risk cohorts, improving retention programs, and optimizing offers tailored to customer segments.</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4" name="Text 1"/>
          <p:cNvSpPr/>
          <p:nvPr/>
        </p:nvSpPr>
        <p:spPr>
          <a:xfrm>
            <a:off x="496119" y="387102"/>
            <a:ext cx="2744242" cy="285824"/>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Roboto Medium" pitchFamily="34" charset="0"/>
                <a:ea typeface="Roboto Medium" pitchFamily="34" charset="-122"/>
                <a:cs typeface="Roboto Medium" pitchFamily="34" charset="-120"/>
              </a:rPr>
              <a:t>Dataset Overview</a:t>
            </a:r>
            <a:endParaRPr lang="en-US" sz="1800" dirty="0"/>
          </a:p>
        </p:txBody>
      </p:sp>
      <p:sp>
        <p:nvSpPr>
          <p:cNvPr id="5" name="Text 2"/>
          <p:cNvSpPr/>
          <p:nvPr/>
        </p:nvSpPr>
        <p:spPr>
          <a:xfrm>
            <a:off x="496119" y="831056"/>
            <a:ext cx="4722763"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 This analysis uses a telco customer dataset curated and validated for modeling and reporting. The dataset supports both descriptive analytics and predictive modeling. </a:t>
            </a:r>
            <a:endParaRPr lang="en-US" sz="9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301279"/>
            <a:ext cx="285824" cy="285824"/>
          </a:xfrm>
          <a:prstGeom prst="rect">
            <a:avLst/>
          </a:prstGeom>
        </p:spPr>
      </p:pic>
      <p:sp>
        <p:nvSpPr>
          <p:cNvPr id="7" name="Text 3"/>
          <p:cNvSpPr/>
          <p:nvPr/>
        </p:nvSpPr>
        <p:spPr>
          <a:xfrm>
            <a:off x="496119" y="1718816"/>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Size &amp; Composition</a:t>
            </a:r>
            <a:endParaRPr lang="en-US" sz="1100" dirty="0"/>
          </a:p>
        </p:txBody>
      </p:sp>
      <p:sp>
        <p:nvSpPr>
          <p:cNvPr id="8" name="Text 4"/>
          <p:cNvSpPr/>
          <p:nvPr/>
        </p:nvSpPr>
        <p:spPr>
          <a:xfrm>
            <a:off x="496119" y="1960736"/>
            <a:ext cx="4722763"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7,043 customers | 21 features. Churn: 1,869; Non-churn: 5,174 — sufficient class balance for training with stratification.</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2523232"/>
            <a:ext cx="285824" cy="285824"/>
          </a:xfrm>
          <a:prstGeom prst="rect">
            <a:avLst/>
          </a:prstGeom>
        </p:spPr>
      </p:pic>
      <p:sp>
        <p:nvSpPr>
          <p:cNvPr id="10" name="Text 5"/>
          <p:cNvSpPr/>
          <p:nvPr/>
        </p:nvSpPr>
        <p:spPr>
          <a:xfrm>
            <a:off x="496119" y="2940769"/>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Key Variables</a:t>
            </a:r>
            <a:endParaRPr lang="en-US" sz="1100" dirty="0"/>
          </a:p>
        </p:txBody>
      </p:sp>
      <p:sp>
        <p:nvSpPr>
          <p:cNvPr id="11" name="Text 6"/>
          <p:cNvSpPr/>
          <p:nvPr/>
        </p:nvSpPr>
        <p:spPr>
          <a:xfrm>
            <a:off x="496119" y="3182689"/>
            <a:ext cx="4722763"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Tenure, Contract Type, Internet Service, Payment Method, Monthly Charges, Total Charges (plus demographic &amp; service indicators).</a:t>
            </a:r>
            <a:endParaRPr lang="en-US" sz="9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745185"/>
            <a:ext cx="285824" cy="285824"/>
          </a:xfrm>
          <a:prstGeom prst="rect">
            <a:avLst/>
          </a:prstGeom>
        </p:spPr>
      </p:pic>
      <p:sp>
        <p:nvSpPr>
          <p:cNvPr id="13" name="Text 7"/>
          <p:cNvSpPr/>
          <p:nvPr/>
        </p:nvSpPr>
        <p:spPr>
          <a:xfrm>
            <a:off x="496119" y="4162723"/>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Data Quality Notes</a:t>
            </a:r>
            <a:endParaRPr lang="en-US" sz="1100" dirty="0"/>
          </a:p>
        </p:txBody>
      </p:sp>
      <p:sp>
        <p:nvSpPr>
          <p:cNvPr id="14" name="Text 8"/>
          <p:cNvSpPr/>
          <p:nvPr/>
        </p:nvSpPr>
        <p:spPr>
          <a:xfrm>
            <a:off x="496119" y="4404643"/>
            <a:ext cx="4722763"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Missing values in TotalCharges corrected; types standardized for SQL joins and Python pipelines. Final dataset shape: 7043 rows × 21 columns.</a:t>
            </a:r>
            <a:endParaRPr lang="en-US" sz="900" dirty="0"/>
          </a:p>
        </p:txBody>
      </p:sp>
      <p:pic>
        <p:nvPicPr>
          <p:cNvPr id="3" name="Image 0" descr="preencoded.png"/>
          <p:cNvPicPr>
            <a:picLocks noChangeAspect="1"/>
          </p:cNvPicPr>
          <p:nvPr/>
        </p:nvPicPr>
        <p:blipFill>
          <a:blip r:embed="rId6"/>
          <a:stretch>
            <a:fillRect/>
          </a:stretch>
        </p:blipFill>
        <p:spPr>
          <a:xfrm>
            <a:off x="5725222" y="-173608"/>
            <a:ext cx="3314700" cy="49720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50800"/>
            <a:ext cx="2938090" cy="310083"/>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Roboto Medium" pitchFamily="34" charset="0"/>
                <a:ea typeface="Roboto Medium" pitchFamily="34" charset="-122"/>
                <a:cs typeface="Roboto Medium" pitchFamily="34" charset="-120"/>
              </a:rPr>
              <a:t>Tools &amp; Technologies</a:t>
            </a:r>
            <a:endParaRPr lang="en-US" sz="1950" dirty="0"/>
          </a:p>
        </p:txBody>
      </p:sp>
      <p:sp>
        <p:nvSpPr>
          <p:cNvPr id="3" name="Text 1"/>
          <p:cNvSpPr/>
          <p:nvPr/>
        </p:nvSpPr>
        <p:spPr>
          <a:xfrm>
            <a:off x="496119" y="1008906"/>
            <a:ext cx="8151763"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 A pragmatic stack was used to move from raw data to business-ready insights. Each tool played a specific role in extraction, transformation, modeling, and visualization. </a:t>
            </a:r>
            <a:endParaRPr lang="en-US" sz="950" dirty="0"/>
          </a:p>
        </p:txBody>
      </p:sp>
      <p:pic>
        <p:nvPicPr>
          <p:cNvPr id="4" name="Image 0" descr="preencoded.png"/>
          <p:cNvPicPr>
            <a:picLocks noChangeAspect="1"/>
          </p:cNvPicPr>
          <p:nvPr/>
        </p:nvPicPr>
        <p:blipFill>
          <a:blip r:embed="rId3"/>
          <a:stretch>
            <a:fillRect/>
          </a:stretch>
        </p:blipFill>
        <p:spPr>
          <a:xfrm>
            <a:off x="496119" y="1684883"/>
            <a:ext cx="414635" cy="414635"/>
          </a:xfrm>
          <a:prstGeom prst="rect">
            <a:avLst/>
          </a:prstGeom>
        </p:spPr>
      </p:pic>
      <p:sp>
        <p:nvSpPr>
          <p:cNvPr id="5" name="Text 2"/>
          <p:cNvSpPr/>
          <p:nvPr/>
        </p:nvSpPr>
        <p:spPr>
          <a:xfrm>
            <a:off x="1065758" y="1684883"/>
            <a:ext cx="1315120"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PostgreSQL</a:t>
            </a:r>
            <a:endParaRPr lang="en-US" sz="1200" dirty="0"/>
          </a:p>
        </p:txBody>
      </p:sp>
      <p:sp>
        <p:nvSpPr>
          <p:cNvPr id="6" name="Text 3"/>
          <p:cNvSpPr/>
          <p:nvPr/>
        </p:nvSpPr>
        <p:spPr>
          <a:xfrm>
            <a:off x="1065758" y="2002706"/>
            <a:ext cx="1315120"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ETL, cohort queries, contract- and payment-segmentation, and aggregated feature engineering via SQL views.</a:t>
            </a:r>
            <a:endParaRPr lang="en-US" sz="950" dirty="0"/>
          </a:p>
        </p:txBody>
      </p:sp>
      <p:pic>
        <p:nvPicPr>
          <p:cNvPr id="7" name="Image 1" descr="preencoded.png"/>
          <p:cNvPicPr>
            <a:picLocks noChangeAspect="1"/>
          </p:cNvPicPr>
          <p:nvPr/>
        </p:nvPicPr>
        <p:blipFill>
          <a:blip r:embed="rId4"/>
          <a:stretch>
            <a:fillRect/>
          </a:stretch>
        </p:blipFill>
        <p:spPr>
          <a:xfrm>
            <a:off x="2535882" y="1684883"/>
            <a:ext cx="414635" cy="414635"/>
          </a:xfrm>
          <a:prstGeom prst="rect">
            <a:avLst/>
          </a:prstGeom>
        </p:spPr>
      </p:pic>
      <p:sp>
        <p:nvSpPr>
          <p:cNvPr id="8" name="Text 4"/>
          <p:cNvSpPr/>
          <p:nvPr/>
        </p:nvSpPr>
        <p:spPr>
          <a:xfrm>
            <a:off x="3105522" y="1684883"/>
            <a:ext cx="1315194"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Python &amp; Pandas</a:t>
            </a:r>
            <a:endParaRPr lang="en-US" sz="1200" dirty="0"/>
          </a:p>
        </p:txBody>
      </p:sp>
      <p:sp>
        <p:nvSpPr>
          <p:cNvPr id="9" name="Text 5"/>
          <p:cNvSpPr/>
          <p:nvPr/>
        </p:nvSpPr>
        <p:spPr>
          <a:xfrm>
            <a:off x="3105522" y="2002706"/>
            <a:ext cx="1315194"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Data cleaning, feature engineering, modeling pipeline, and model interpretation (coefficients, odds ratios).</a:t>
            </a:r>
            <a:endParaRPr lang="en-US" sz="950" dirty="0"/>
          </a:p>
        </p:txBody>
      </p:sp>
      <p:pic>
        <p:nvPicPr>
          <p:cNvPr id="10" name="Image 2" descr="preencoded.png"/>
          <p:cNvPicPr>
            <a:picLocks noChangeAspect="1"/>
          </p:cNvPicPr>
          <p:nvPr/>
        </p:nvPicPr>
        <p:blipFill>
          <a:blip r:embed="rId5"/>
          <a:stretch>
            <a:fillRect/>
          </a:stretch>
        </p:blipFill>
        <p:spPr>
          <a:xfrm>
            <a:off x="496119" y="3441502"/>
            <a:ext cx="414635" cy="414635"/>
          </a:xfrm>
          <a:prstGeom prst="rect">
            <a:avLst/>
          </a:prstGeom>
        </p:spPr>
      </p:pic>
      <p:sp>
        <p:nvSpPr>
          <p:cNvPr id="11" name="Text 6"/>
          <p:cNvSpPr/>
          <p:nvPr/>
        </p:nvSpPr>
        <p:spPr>
          <a:xfrm>
            <a:off x="1065758" y="3441502"/>
            <a:ext cx="1315120"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Scikit-Learn</a:t>
            </a:r>
            <a:endParaRPr lang="en-US" sz="1200" dirty="0"/>
          </a:p>
        </p:txBody>
      </p:sp>
      <p:sp>
        <p:nvSpPr>
          <p:cNvPr id="12" name="Text 7"/>
          <p:cNvSpPr/>
          <p:nvPr/>
        </p:nvSpPr>
        <p:spPr>
          <a:xfrm>
            <a:off x="1065758" y="3759324"/>
            <a:ext cx="1315120"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Logistic Regression model, cross-validation, and performance evaluation.</a:t>
            </a:r>
            <a:endParaRPr lang="en-US" sz="950" dirty="0"/>
          </a:p>
        </p:txBody>
      </p:sp>
      <p:pic>
        <p:nvPicPr>
          <p:cNvPr id="13" name="Image 3" descr="preencoded.png"/>
          <p:cNvPicPr>
            <a:picLocks noChangeAspect="1"/>
          </p:cNvPicPr>
          <p:nvPr/>
        </p:nvPicPr>
        <p:blipFill>
          <a:blip r:embed="rId6"/>
          <a:stretch>
            <a:fillRect/>
          </a:stretch>
        </p:blipFill>
        <p:spPr>
          <a:xfrm>
            <a:off x="4728046" y="1684883"/>
            <a:ext cx="414635" cy="414635"/>
          </a:xfrm>
          <a:prstGeom prst="rect">
            <a:avLst/>
          </a:prstGeom>
        </p:spPr>
      </p:pic>
      <p:sp>
        <p:nvSpPr>
          <p:cNvPr id="14" name="Text 8"/>
          <p:cNvSpPr/>
          <p:nvPr/>
        </p:nvSpPr>
        <p:spPr>
          <a:xfrm>
            <a:off x="5297686" y="1684883"/>
            <a:ext cx="1315120"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Matplotlib</a:t>
            </a:r>
            <a:endParaRPr lang="en-US" sz="1200" dirty="0"/>
          </a:p>
        </p:txBody>
      </p:sp>
      <p:sp>
        <p:nvSpPr>
          <p:cNvPr id="15" name="Text 9"/>
          <p:cNvSpPr/>
          <p:nvPr/>
        </p:nvSpPr>
        <p:spPr>
          <a:xfrm>
            <a:off x="5297686" y="2002706"/>
            <a:ext cx="1315120"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Exploratory visuals for distributions, tenure vs churn, and monthly charges comparisons.</a:t>
            </a:r>
            <a:endParaRPr lang="en-US" sz="950" dirty="0"/>
          </a:p>
        </p:txBody>
      </p:sp>
      <p:pic>
        <p:nvPicPr>
          <p:cNvPr id="16" name="Image 4" descr="preencoded.png"/>
          <p:cNvPicPr>
            <a:picLocks noChangeAspect="1"/>
          </p:cNvPicPr>
          <p:nvPr/>
        </p:nvPicPr>
        <p:blipFill>
          <a:blip r:embed="rId7"/>
          <a:stretch>
            <a:fillRect/>
          </a:stretch>
        </p:blipFill>
        <p:spPr>
          <a:xfrm>
            <a:off x="6767810" y="1684883"/>
            <a:ext cx="414635" cy="414635"/>
          </a:xfrm>
          <a:prstGeom prst="rect">
            <a:avLst/>
          </a:prstGeom>
        </p:spPr>
      </p:pic>
      <p:sp>
        <p:nvSpPr>
          <p:cNvPr id="17" name="Text 10"/>
          <p:cNvSpPr/>
          <p:nvPr/>
        </p:nvSpPr>
        <p:spPr>
          <a:xfrm>
            <a:off x="7337450" y="1684883"/>
            <a:ext cx="1315194"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Tableau Public</a:t>
            </a:r>
            <a:endParaRPr lang="en-US" sz="1200" dirty="0"/>
          </a:p>
        </p:txBody>
      </p:sp>
      <p:sp>
        <p:nvSpPr>
          <p:cNvPr id="18" name="Text 11"/>
          <p:cNvSpPr/>
          <p:nvPr/>
        </p:nvSpPr>
        <p:spPr>
          <a:xfrm>
            <a:off x="7337450" y="2002706"/>
            <a:ext cx="1315194" cy="992312"/>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Interactive dashboard for executives and product managers: KPI cards, filters, and cohort-level drilldowns.</a:t>
            </a:r>
            <a:endParaRPr lang="en-US" sz="950" dirty="0"/>
          </a:p>
        </p:txBody>
      </p:sp>
      <p:pic>
        <p:nvPicPr>
          <p:cNvPr id="19" name="Image 5" descr="preencoded.png"/>
          <p:cNvPicPr>
            <a:picLocks noChangeAspect="1"/>
          </p:cNvPicPr>
          <p:nvPr/>
        </p:nvPicPr>
        <p:blipFill>
          <a:blip r:embed="rId8"/>
          <a:stretch>
            <a:fillRect/>
          </a:stretch>
        </p:blipFill>
        <p:spPr>
          <a:xfrm>
            <a:off x="4728046" y="3243039"/>
            <a:ext cx="414635" cy="414635"/>
          </a:xfrm>
          <a:prstGeom prst="rect">
            <a:avLst/>
          </a:prstGeom>
        </p:spPr>
      </p:pic>
      <p:sp>
        <p:nvSpPr>
          <p:cNvPr id="20" name="Text 12"/>
          <p:cNvSpPr/>
          <p:nvPr/>
        </p:nvSpPr>
        <p:spPr>
          <a:xfrm>
            <a:off x="5297686" y="3243039"/>
            <a:ext cx="1315120"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Excel</a:t>
            </a:r>
            <a:endParaRPr lang="en-US" sz="1200" dirty="0"/>
          </a:p>
        </p:txBody>
      </p:sp>
      <p:sp>
        <p:nvSpPr>
          <p:cNvPr id="21" name="Text 13"/>
          <p:cNvSpPr/>
          <p:nvPr/>
        </p:nvSpPr>
        <p:spPr>
          <a:xfrm>
            <a:off x="5297686" y="3560862"/>
            <a:ext cx="1315120" cy="793849"/>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Ad-hoc analysis, pivot checks, and stakeholder-ready exports.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157358" y="12939"/>
            <a:ext cx="3322439" cy="4983659"/>
          </a:xfrm>
          <a:prstGeom prst="rect">
            <a:avLst/>
          </a:prstGeom>
        </p:spPr>
      </p:pic>
      <p:sp>
        <p:nvSpPr>
          <p:cNvPr id="4" name="Text 1"/>
          <p:cNvSpPr/>
          <p:nvPr/>
        </p:nvSpPr>
        <p:spPr>
          <a:xfrm>
            <a:off x="3925119" y="367159"/>
            <a:ext cx="3137074" cy="266477"/>
          </a:xfrm>
          <a:prstGeom prst="rect">
            <a:avLst/>
          </a:prstGeom>
          <a:noFill/>
          <a:ln/>
        </p:spPr>
        <p:txBody>
          <a:bodyPr wrap="none" lIns="0" tIns="0" rIns="0" bIns="0" rtlCol="0" anchor="t"/>
          <a:lstStyle/>
          <a:p>
            <a:pPr marL="0" indent="0" algn="l">
              <a:lnSpc>
                <a:spcPct val="104000"/>
              </a:lnSpc>
              <a:buNone/>
            </a:pPr>
            <a:r>
              <a:rPr lang="en-US" sz="1650" dirty="0">
                <a:solidFill>
                  <a:srgbClr val="FFFFFF"/>
                </a:solidFill>
                <a:latin typeface="Roboto Medium" pitchFamily="34" charset="0"/>
                <a:ea typeface="Roboto Medium" pitchFamily="34" charset="-122"/>
                <a:cs typeface="Roboto Medium" pitchFamily="34" charset="-120"/>
              </a:rPr>
              <a:t>Data Cleaning &amp; Preparation</a:t>
            </a:r>
            <a:endParaRPr lang="en-US" sz="1650" dirty="0"/>
          </a:p>
        </p:txBody>
      </p:sp>
      <p:sp>
        <p:nvSpPr>
          <p:cNvPr id="5" name="Text 2"/>
          <p:cNvSpPr/>
          <p:nvPr/>
        </p:nvSpPr>
        <p:spPr>
          <a:xfrm>
            <a:off x="3925119" y="771004"/>
            <a:ext cx="5179963" cy="158576"/>
          </a:xfrm>
          <a:prstGeom prst="rect">
            <a:avLst/>
          </a:prstGeom>
          <a:noFill/>
          <a:ln/>
        </p:spPr>
        <p:txBody>
          <a:bodyPr wrap="none" lIns="0" tIns="0" rIns="0" bIns="0" rtlCol="0" anchor="t"/>
          <a:lstStyle/>
          <a:p>
            <a:pPr marL="0" indent="0" algn="l">
              <a:lnSpc>
                <a:spcPct val="124000"/>
              </a:lnSpc>
              <a:buNone/>
            </a:pPr>
            <a:r>
              <a:rPr lang="en-US" sz="800" dirty="0">
                <a:solidFill>
                  <a:srgbClr val="CFD0D8"/>
                </a:solidFill>
                <a:latin typeface="Roboto" pitchFamily="34" charset="0"/>
                <a:ea typeface="Roboto" pitchFamily="34" charset="-122"/>
                <a:cs typeface="Roboto" pitchFamily="34" charset="-120"/>
              </a:rPr>
              <a:t> A robust cleaning process ensured model-ready inputs and reliable analytics. </a:t>
            </a:r>
            <a:endParaRPr lang="en-US" sz="800" dirty="0"/>
          </a:p>
        </p:txBody>
      </p:sp>
      <p:sp>
        <p:nvSpPr>
          <p:cNvPr id="6" name="Text 3"/>
          <p:cNvSpPr/>
          <p:nvPr/>
        </p:nvSpPr>
        <p:spPr>
          <a:xfrm>
            <a:off x="3925119" y="1032570"/>
            <a:ext cx="213196" cy="133201"/>
          </a:xfrm>
          <a:prstGeom prst="rect">
            <a:avLst/>
          </a:prstGeom>
          <a:noFill/>
          <a:ln/>
        </p:spPr>
        <p:txBody>
          <a:bodyPr wrap="none" lIns="0" tIns="0" rIns="0" bIns="0" rtlCol="0" anchor="ctr"/>
          <a:lstStyle/>
          <a:p>
            <a:pPr marL="0" indent="0" algn="l">
              <a:lnSpc>
                <a:spcPct val="100000"/>
              </a:lnSpc>
              <a:buNone/>
            </a:pPr>
            <a:r>
              <a:rPr lang="en-US" sz="800" dirty="0">
                <a:solidFill>
                  <a:srgbClr val="CFD0D8"/>
                </a:solidFill>
                <a:latin typeface="Roboto Light" pitchFamily="34" charset="0"/>
                <a:ea typeface="Roboto Light" pitchFamily="34" charset="-122"/>
                <a:cs typeface="Roboto Light" pitchFamily="34" charset="-120"/>
              </a:rPr>
              <a:t>01</a:t>
            </a:r>
            <a:endParaRPr lang="en-US" sz="800" dirty="0"/>
          </a:p>
        </p:txBody>
      </p:sp>
      <p:sp>
        <p:nvSpPr>
          <p:cNvPr id="7" name="Shape 4"/>
          <p:cNvSpPr/>
          <p:nvPr/>
        </p:nvSpPr>
        <p:spPr>
          <a:xfrm>
            <a:off x="3925119" y="1199406"/>
            <a:ext cx="4722763" cy="14288"/>
          </a:xfrm>
          <a:prstGeom prst="rect">
            <a:avLst/>
          </a:prstGeom>
          <a:solidFill>
            <a:srgbClr val="5A6ED8"/>
          </a:solidFill>
          <a:ln/>
        </p:spPr>
      </p:sp>
      <p:sp>
        <p:nvSpPr>
          <p:cNvPr id="8" name="Text 5"/>
          <p:cNvSpPr/>
          <p:nvPr/>
        </p:nvSpPr>
        <p:spPr>
          <a:xfrm>
            <a:off x="3925119" y="1281261"/>
            <a:ext cx="1374874" cy="166539"/>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Missing Value Analysis</a:t>
            </a:r>
            <a:endParaRPr lang="en-US" sz="1000" dirty="0"/>
          </a:p>
        </p:txBody>
      </p:sp>
      <p:sp>
        <p:nvSpPr>
          <p:cNvPr id="9" name="Text 6"/>
          <p:cNvSpPr/>
          <p:nvPr/>
        </p:nvSpPr>
        <p:spPr>
          <a:xfrm>
            <a:off x="3925119" y="1502718"/>
            <a:ext cx="4722763"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CFD0D8"/>
                </a:solidFill>
                <a:latin typeface="Roboto" pitchFamily="34" charset="0"/>
                <a:ea typeface="Roboto" pitchFamily="34" charset="-122"/>
                <a:cs typeface="Roboto" pitchFamily="34" charset="-120"/>
              </a:rPr>
              <a:t>Identified nulls in TotalCharges and categorical fields. Imputed, validated, and documented assumptions for each imputation step.</a:t>
            </a:r>
            <a:endParaRPr lang="en-US" sz="800" dirty="0"/>
          </a:p>
        </p:txBody>
      </p:sp>
      <p:sp>
        <p:nvSpPr>
          <p:cNvPr id="10" name="Text 7"/>
          <p:cNvSpPr/>
          <p:nvPr/>
        </p:nvSpPr>
        <p:spPr>
          <a:xfrm>
            <a:off x="3925119" y="1991395"/>
            <a:ext cx="213196" cy="133201"/>
          </a:xfrm>
          <a:prstGeom prst="rect">
            <a:avLst/>
          </a:prstGeom>
          <a:noFill/>
          <a:ln/>
        </p:spPr>
        <p:txBody>
          <a:bodyPr wrap="none" lIns="0" tIns="0" rIns="0" bIns="0" rtlCol="0" anchor="ctr"/>
          <a:lstStyle/>
          <a:p>
            <a:pPr marL="0" indent="0" algn="l">
              <a:lnSpc>
                <a:spcPct val="100000"/>
              </a:lnSpc>
              <a:buNone/>
            </a:pPr>
            <a:r>
              <a:rPr lang="en-US" sz="800" dirty="0">
                <a:solidFill>
                  <a:srgbClr val="CFD0D8"/>
                </a:solidFill>
                <a:latin typeface="Roboto Light" pitchFamily="34" charset="0"/>
                <a:ea typeface="Roboto Light" pitchFamily="34" charset="-122"/>
                <a:cs typeface="Roboto Light" pitchFamily="34" charset="-120"/>
              </a:rPr>
              <a:t>02</a:t>
            </a:r>
            <a:endParaRPr lang="en-US" sz="800" dirty="0"/>
          </a:p>
        </p:txBody>
      </p:sp>
      <p:sp>
        <p:nvSpPr>
          <p:cNvPr id="11" name="Shape 8"/>
          <p:cNvSpPr/>
          <p:nvPr/>
        </p:nvSpPr>
        <p:spPr>
          <a:xfrm>
            <a:off x="3925119" y="2158231"/>
            <a:ext cx="4722763" cy="14288"/>
          </a:xfrm>
          <a:prstGeom prst="rect">
            <a:avLst/>
          </a:prstGeom>
          <a:solidFill>
            <a:srgbClr val="5A6ED8"/>
          </a:solidFill>
          <a:ln/>
        </p:spPr>
      </p:sp>
      <p:sp>
        <p:nvSpPr>
          <p:cNvPr id="12" name="Text 9"/>
          <p:cNvSpPr/>
          <p:nvPr/>
        </p:nvSpPr>
        <p:spPr>
          <a:xfrm>
            <a:off x="3925119" y="2240087"/>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Type Conversion</a:t>
            </a:r>
            <a:endParaRPr lang="en-US" sz="1000" dirty="0"/>
          </a:p>
        </p:txBody>
      </p:sp>
      <p:sp>
        <p:nvSpPr>
          <p:cNvPr id="13" name="Text 10"/>
          <p:cNvSpPr/>
          <p:nvPr/>
        </p:nvSpPr>
        <p:spPr>
          <a:xfrm>
            <a:off x="3925119" y="2461543"/>
            <a:ext cx="4722763"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CFD0D8"/>
                </a:solidFill>
                <a:latin typeface="Roboto" pitchFamily="34" charset="0"/>
                <a:ea typeface="Roboto" pitchFamily="34" charset="-122"/>
                <a:cs typeface="Roboto" pitchFamily="34" charset="-120"/>
              </a:rPr>
              <a:t>Converted TotalCharges from string to numeric after cleaning whitespace and placeholder values; ensured MonthlyCharges numeric.</a:t>
            </a:r>
            <a:endParaRPr lang="en-US" sz="800" dirty="0"/>
          </a:p>
        </p:txBody>
      </p:sp>
      <p:sp>
        <p:nvSpPr>
          <p:cNvPr id="14" name="Text 11"/>
          <p:cNvSpPr/>
          <p:nvPr/>
        </p:nvSpPr>
        <p:spPr>
          <a:xfrm>
            <a:off x="3925119" y="2950220"/>
            <a:ext cx="213196" cy="133201"/>
          </a:xfrm>
          <a:prstGeom prst="rect">
            <a:avLst/>
          </a:prstGeom>
          <a:noFill/>
          <a:ln/>
        </p:spPr>
        <p:txBody>
          <a:bodyPr wrap="none" lIns="0" tIns="0" rIns="0" bIns="0" rtlCol="0" anchor="ctr"/>
          <a:lstStyle/>
          <a:p>
            <a:pPr marL="0" indent="0" algn="l">
              <a:lnSpc>
                <a:spcPct val="100000"/>
              </a:lnSpc>
              <a:buNone/>
            </a:pPr>
            <a:r>
              <a:rPr lang="en-US" sz="800" dirty="0">
                <a:solidFill>
                  <a:srgbClr val="CFD0D8"/>
                </a:solidFill>
                <a:latin typeface="Roboto Light" pitchFamily="34" charset="0"/>
                <a:ea typeface="Roboto Light" pitchFamily="34" charset="-122"/>
                <a:cs typeface="Roboto Light" pitchFamily="34" charset="-120"/>
              </a:rPr>
              <a:t>03</a:t>
            </a:r>
            <a:endParaRPr lang="en-US" sz="800" dirty="0"/>
          </a:p>
        </p:txBody>
      </p:sp>
      <p:sp>
        <p:nvSpPr>
          <p:cNvPr id="15" name="Shape 12"/>
          <p:cNvSpPr/>
          <p:nvPr/>
        </p:nvSpPr>
        <p:spPr>
          <a:xfrm>
            <a:off x="3925119" y="3117056"/>
            <a:ext cx="4722763" cy="14288"/>
          </a:xfrm>
          <a:prstGeom prst="rect">
            <a:avLst/>
          </a:prstGeom>
          <a:solidFill>
            <a:srgbClr val="5A6ED8"/>
          </a:solidFill>
          <a:ln/>
        </p:spPr>
      </p:sp>
      <p:sp>
        <p:nvSpPr>
          <p:cNvPr id="16" name="Text 13"/>
          <p:cNvSpPr/>
          <p:nvPr/>
        </p:nvSpPr>
        <p:spPr>
          <a:xfrm>
            <a:off x="3925119" y="3198912"/>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Feature Engineering</a:t>
            </a:r>
            <a:endParaRPr lang="en-US" sz="1000" dirty="0"/>
          </a:p>
        </p:txBody>
      </p:sp>
      <p:sp>
        <p:nvSpPr>
          <p:cNvPr id="17" name="Text 14"/>
          <p:cNvSpPr/>
          <p:nvPr/>
        </p:nvSpPr>
        <p:spPr>
          <a:xfrm>
            <a:off x="3925119" y="3420368"/>
            <a:ext cx="4722763"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CFD0D8"/>
                </a:solidFill>
                <a:latin typeface="Roboto" pitchFamily="34" charset="0"/>
                <a:ea typeface="Roboto" pitchFamily="34" charset="-122"/>
                <a:cs typeface="Roboto" pitchFamily="34" charset="-120"/>
              </a:rPr>
              <a:t>Derived tenure buckets, binary flags for contract types (month-to-month, one-year, two-year), and payment method indicators (electronic check vs others).</a:t>
            </a:r>
            <a:endParaRPr lang="en-US" sz="800" dirty="0"/>
          </a:p>
        </p:txBody>
      </p:sp>
      <p:sp>
        <p:nvSpPr>
          <p:cNvPr id="18" name="Text 15"/>
          <p:cNvSpPr/>
          <p:nvPr/>
        </p:nvSpPr>
        <p:spPr>
          <a:xfrm>
            <a:off x="3925119" y="3909045"/>
            <a:ext cx="213196" cy="133201"/>
          </a:xfrm>
          <a:prstGeom prst="rect">
            <a:avLst/>
          </a:prstGeom>
          <a:noFill/>
          <a:ln/>
        </p:spPr>
        <p:txBody>
          <a:bodyPr wrap="none" lIns="0" tIns="0" rIns="0" bIns="0" rtlCol="0" anchor="ctr"/>
          <a:lstStyle/>
          <a:p>
            <a:pPr marL="0" indent="0" algn="l">
              <a:lnSpc>
                <a:spcPct val="100000"/>
              </a:lnSpc>
              <a:buNone/>
            </a:pPr>
            <a:r>
              <a:rPr lang="en-US" sz="800" dirty="0">
                <a:solidFill>
                  <a:srgbClr val="CFD0D8"/>
                </a:solidFill>
                <a:latin typeface="Roboto Light" pitchFamily="34" charset="0"/>
                <a:ea typeface="Roboto Light" pitchFamily="34" charset="-122"/>
                <a:cs typeface="Roboto Light" pitchFamily="34" charset="-120"/>
              </a:rPr>
              <a:t>04</a:t>
            </a:r>
            <a:endParaRPr lang="en-US" sz="800" dirty="0"/>
          </a:p>
        </p:txBody>
      </p:sp>
      <p:sp>
        <p:nvSpPr>
          <p:cNvPr id="19" name="Shape 16"/>
          <p:cNvSpPr/>
          <p:nvPr/>
        </p:nvSpPr>
        <p:spPr>
          <a:xfrm>
            <a:off x="3925119" y="4075881"/>
            <a:ext cx="4722763" cy="14288"/>
          </a:xfrm>
          <a:prstGeom prst="rect">
            <a:avLst/>
          </a:prstGeom>
          <a:solidFill>
            <a:srgbClr val="5A6ED8"/>
          </a:solidFill>
          <a:ln/>
        </p:spPr>
      </p:sp>
      <p:sp>
        <p:nvSpPr>
          <p:cNvPr id="20" name="Text 17"/>
          <p:cNvSpPr/>
          <p:nvPr/>
        </p:nvSpPr>
        <p:spPr>
          <a:xfrm>
            <a:off x="3925119" y="4157737"/>
            <a:ext cx="1332458" cy="166539"/>
          </a:xfrm>
          <a:prstGeom prst="rect">
            <a:avLst/>
          </a:prstGeom>
          <a:noFill/>
          <a:ln/>
        </p:spPr>
        <p:txBody>
          <a:bodyPr wrap="none" lIns="0" tIns="0" rIns="0" bIns="0" rtlCol="0" anchor="t"/>
          <a:lstStyle/>
          <a:p>
            <a:pPr marL="0" indent="0" algn="l">
              <a:lnSpc>
                <a:spcPct val="104000"/>
              </a:lnSpc>
              <a:buNone/>
            </a:pPr>
            <a:r>
              <a:rPr lang="en-US" sz="1000" dirty="0">
                <a:solidFill>
                  <a:srgbClr val="CFD0D8"/>
                </a:solidFill>
                <a:latin typeface="Roboto Medium" pitchFamily="34" charset="0"/>
                <a:ea typeface="Roboto Medium" pitchFamily="34" charset="-122"/>
                <a:cs typeface="Roboto Medium" pitchFamily="34" charset="-120"/>
              </a:rPr>
              <a:t>Validation &amp; Export</a:t>
            </a:r>
            <a:endParaRPr lang="en-US" sz="1000" dirty="0"/>
          </a:p>
        </p:txBody>
      </p:sp>
      <p:sp>
        <p:nvSpPr>
          <p:cNvPr id="21" name="Text 18"/>
          <p:cNvSpPr/>
          <p:nvPr/>
        </p:nvSpPr>
        <p:spPr>
          <a:xfrm>
            <a:off x="3925119" y="4379193"/>
            <a:ext cx="4722763" cy="317153"/>
          </a:xfrm>
          <a:prstGeom prst="rect">
            <a:avLst/>
          </a:prstGeom>
          <a:noFill/>
          <a:ln/>
        </p:spPr>
        <p:txBody>
          <a:bodyPr wrap="square" lIns="0" tIns="0" rIns="0" bIns="0" rtlCol="0" anchor="t">
            <a:normAutofit/>
          </a:bodyPr>
          <a:lstStyle/>
          <a:p>
            <a:pPr marL="0" indent="0" algn="l">
              <a:lnSpc>
                <a:spcPct val="124000"/>
              </a:lnSpc>
              <a:buNone/>
            </a:pPr>
            <a:r>
              <a:rPr lang="en-US" sz="800" dirty="0">
                <a:solidFill>
                  <a:srgbClr val="CFD0D8"/>
                </a:solidFill>
                <a:latin typeface="Roboto" pitchFamily="34" charset="0"/>
                <a:ea typeface="Roboto" pitchFamily="34" charset="-122"/>
                <a:cs typeface="Roboto" pitchFamily="34" charset="-120"/>
              </a:rPr>
              <a:t>Ran row counts, unique value checks, and sample joins. Final dataset exported for modeling: 7043 rows × 21 columns.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25395" y="239837"/>
            <a:ext cx="3314700" cy="4972050"/>
          </a:xfrm>
          <a:prstGeom prst="rect">
            <a:avLst/>
          </a:prstGeom>
        </p:spPr>
      </p:pic>
      <p:sp>
        <p:nvSpPr>
          <p:cNvPr id="4" name="Text 1"/>
          <p:cNvSpPr/>
          <p:nvPr/>
        </p:nvSpPr>
        <p:spPr>
          <a:xfrm>
            <a:off x="496119" y="382339"/>
            <a:ext cx="4660478" cy="285824"/>
          </a:xfrm>
          <a:prstGeom prst="rect">
            <a:avLst/>
          </a:prstGeom>
          <a:noFill/>
          <a:ln/>
        </p:spPr>
        <p:txBody>
          <a:bodyPr wrap="none" lIns="0" tIns="0" rIns="0" bIns="0" rtlCol="0" anchor="t"/>
          <a:lstStyle/>
          <a:p>
            <a:pPr marL="0" indent="0" algn="l">
              <a:lnSpc>
                <a:spcPct val="104000"/>
              </a:lnSpc>
              <a:buNone/>
            </a:pPr>
            <a:r>
              <a:rPr lang="en-US" sz="1800" dirty="0">
                <a:solidFill>
                  <a:srgbClr val="FFFFFF"/>
                </a:solidFill>
                <a:latin typeface="Roboto Medium" pitchFamily="34" charset="0"/>
                <a:ea typeface="Roboto Medium" pitchFamily="34" charset="-122"/>
                <a:cs typeface="Roboto Medium" pitchFamily="34" charset="-120"/>
              </a:rPr>
              <a:t>Exploratory Data Analysis — Key Findings</a:t>
            </a:r>
            <a:endParaRPr lang="en-US" sz="1800" dirty="0"/>
          </a:p>
        </p:txBody>
      </p:sp>
      <p:sp>
        <p:nvSpPr>
          <p:cNvPr id="5" name="Text 2"/>
          <p:cNvSpPr/>
          <p:nvPr/>
        </p:nvSpPr>
        <p:spPr>
          <a:xfrm>
            <a:off x="496119" y="826294"/>
            <a:ext cx="4722763" cy="52752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 EDA highlighted behavioral and billing patterns strongly associated with churn. Visualizations (histograms, boxplots, and cohort charts) were used to surface patterns and guide feature selection for modeling. </a:t>
            </a:r>
            <a:endParaRPr lang="en-US" sz="9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472357"/>
            <a:ext cx="285824" cy="285824"/>
          </a:xfrm>
          <a:prstGeom prst="rect">
            <a:avLst/>
          </a:prstGeom>
        </p:spPr>
      </p:pic>
      <p:sp>
        <p:nvSpPr>
          <p:cNvPr id="7" name="Text 3"/>
          <p:cNvSpPr/>
          <p:nvPr/>
        </p:nvSpPr>
        <p:spPr>
          <a:xfrm>
            <a:off x="913656" y="1472357"/>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Tenure</a:t>
            </a:r>
            <a:endParaRPr lang="en-US" sz="1100" dirty="0"/>
          </a:p>
        </p:txBody>
      </p:sp>
      <p:sp>
        <p:nvSpPr>
          <p:cNvPr id="8" name="Text 4"/>
          <p:cNvSpPr/>
          <p:nvPr/>
        </p:nvSpPr>
        <p:spPr>
          <a:xfrm>
            <a:off x="913656" y="1714277"/>
            <a:ext cx="1877988" cy="87920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Churners average 17.98 months of tenure versus 37.57 months for non-churners, showing that churn is concentrated in earlier lifecycle stages.</a:t>
            </a:r>
            <a:endParaRPr lang="en-US" sz="9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923356" y="1472357"/>
            <a:ext cx="285824" cy="285824"/>
          </a:xfrm>
          <a:prstGeom prst="rect">
            <a:avLst/>
          </a:prstGeom>
        </p:spPr>
      </p:pic>
      <p:sp>
        <p:nvSpPr>
          <p:cNvPr id="10" name="Text 5"/>
          <p:cNvSpPr/>
          <p:nvPr/>
        </p:nvSpPr>
        <p:spPr>
          <a:xfrm>
            <a:off x="3340894" y="1472357"/>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Contract Type</a:t>
            </a:r>
            <a:endParaRPr lang="en-US" sz="1100" dirty="0"/>
          </a:p>
        </p:txBody>
      </p:sp>
      <p:sp>
        <p:nvSpPr>
          <p:cNvPr id="11" name="Text 6"/>
          <p:cNvSpPr/>
          <p:nvPr/>
        </p:nvSpPr>
        <p:spPr>
          <a:xfrm>
            <a:off x="3340894" y="1714277"/>
            <a:ext cx="1877988"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Month-to-month accounts have 1,655 churners, compared with 1,307 for one-year contracts and 1,647 for two-year contracts.</a:t>
            </a:r>
            <a:endParaRPr lang="en-US" sz="9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2804294"/>
            <a:ext cx="285824" cy="285824"/>
          </a:xfrm>
          <a:prstGeom prst="rect">
            <a:avLst/>
          </a:prstGeom>
        </p:spPr>
      </p:pic>
      <p:sp>
        <p:nvSpPr>
          <p:cNvPr id="13" name="Text 7"/>
          <p:cNvSpPr/>
          <p:nvPr/>
        </p:nvSpPr>
        <p:spPr>
          <a:xfrm>
            <a:off x="913656" y="2804294"/>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Internet Service</a:t>
            </a:r>
            <a:endParaRPr lang="en-US" sz="1100" dirty="0"/>
          </a:p>
        </p:txBody>
      </p:sp>
      <p:sp>
        <p:nvSpPr>
          <p:cNvPr id="14" name="Text 8"/>
          <p:cNvSpPr/>
          <p:nvPr/>
        </p:nvSpPr>
        <p:spPr>
          <a:xfrm>
            <a:off x="913656" y="3046214"/>
            <a:ext cx="1877988"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Fiber optic shows 1,799 churners, while DSL has 1,962 and no internet has 1,413, indicating service type remains a meaningful churn driver.</a:t>
            </a:r>
            <a:endParaRPr lang="en-US" sz="900" dirty="0"/>
          </a:p>
        </p:txBody>
      </p:sp>
      <p:sp>
        <p:nvSpPr>
          <p:cNvPr id="15" name="Shape 9"/>
          <p:cNvSpPr/>
          <p:nvPr/>
        </p:nvSpPr>
        <p:spPr>
          <a:xfrm>
            <a:off x="2937644" y="2802136"/>
            <a:ext cx="257175" cy="290140"/>
          </a:xfrm>
          <a:prstGeom prst="roundRect">
            <a:avLst>
              <a:gd name="adj" fmla="val 13333"/>
            </a:avLst>
          </a:prstGeom>
          <a:solidFill>
            <a:srgbClr val="4D4D51"/>
          </a:solidFill>
          <a:ln/>
        </p:spPr>
      </p:sp>
      <p:pic>
        <p:nvPicPr>
          <p:cNvPr id="16" name="Image 4" descr="preencoded.png"/>
          <p:cNvPicPr>
            <a:picLocks noChangeAspect="1"/>
          </p:cNvPicPr>
          <p:nvPr/>
        </p:nvPicPr>
        <p:blipFill>
          <a:blip r:embed="rId7"/>
          <a:stretch>
            <a:fillRect/>
          </a:stretch>
        </p:blipFill>
        <p:spPr>
          <a:xfrm>
            <a:off x="2994794" y="2883098"/>
            <a:ext cx="142875" cy="114300"/>
          </a:xfrm>
          <a:prstGeom prst="rect">
            <a:avLst/>
          </a:prstGeom>
        </p:spPr>
      </p:pic>
      <p:sp>
        <p:nvSpPr>
          <p:cNvPr id="17" name="Text 10"/>
          <p:cNvSpPr/>
          <p:nvPr/>
        </p:nvSpPr>
        <p:spPr>
          <a:xfrm>
            <a:off x="3340894" y="2804294"/>
            <a:ext cx="1429420" cy="178668"/>
          </a:xfrm>
          <a:prstGeom prst="rect">
            <a:avLst/>
          </a:prstGeom>
          <a:noFill/>
          <a:ln/>
        </p:spPr>
        <p:txBody>
          <a:bodyPr wrap="none" lIns="0" tIns="0" rIns="0" bIns="0" rtlCol="0" anchor="t"/>
          <a:lstStyle/>
          <a:p>
            <a:pPr marL="0" indent="0" algn="l">
              <a:lnSpc>
                <a:spcPct val="104000"/>
              </a:lnSpc>
              <a:buNone/>
            </a:pPr>
            <a:r>
              <a:rPr lang="en-US" sz="1100" dirty="0">
                <a:solidFill>
                  <a:srgbClr val="CFD0D8"/>
                </a:solidFill>
                <a:latin typeface="Roboto Medium" pitchFamily="34" charset="0"/>
                <a:ea typeface="Roboto Medium" pitchFamily="34" charset="-122"/>
                <a:cs typeface="Roboto Medium" pitchFamily="34" charset="-120"/>
              </a:rPr>
              <a:t>Payment Method</a:t>
            </a:r>
            <a:endParaRPr lang="en-US" sz="1100" dirty="0"/>
          </a:p>
        </p:txBody>
      </p:sp>
      <p:sp>
        <p:nvSpPr>
          <p:cNvPr id="18" name="Text 11"/>
          <p:cNvSpPr/>
          <p:nvPr/>
        </p:nvSpPr>
        <p:spPr>
          <a:xfrm>
            <a:off x="3340894" y="3046214"/>
            <a:ext cx="1877988" cy="703362"/>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CFD0D8"/>
                </a:solidFill>
                <a:latin typeface="Roboto" pitchFamily="34" charset="0"/>
                <a:ea typeface="Roboto" pitchFamily="34" charset="-122"/>
                <a:cs typeface="Roboto" pitchFamily="34" charset="-120"/>
              </a:rPr>
              <a:t>Electronic check has 1,071 churners, the highest of all payment methods, while the others range from 308 to 258 churners.</a:t>
            </a:r>
            <a:endParaRPr lang="en-US" sz="900" dirty="0"/>
          </a:p>
        </p:txBody>
      </p:sp>
      <p:sp>
        <p:nvSpPr>
          <p:cNvPr id="19" name="Shape 12"/>
          <p:cNvSpPr/>
          <p:nvPr/>
        </p:nvSpPr>
        <p:spPr>
          <a:xfrm>
            <a:off x="496119" y="3868117"/>
            <a:ext cx="4722763" cy="774427"/>
          </a:xfrm>
          <a:prstGeom prst="roundRect">
            <a:avLst>
              <a:gd name="adj" fmla="val 6202"/>
            </a:avLst>
          </a:prstGeom>
          <a:solidFill>
            <a:srgbClr val="022349"/>
          </a:solidFill>
          <a:ln/>
        </p:spPr>
      </p:sp>
      <p:pic>
        <p:nvPicPr>
          <p:cNvPr id="20" name="Image 5" descr="preencoded.png"/>
          <p:cNvPicPr>
            <a:picLocks noChangeAspect="1"/>
          </p:cNvPicPr>
          <p:nvPr/>
        </p:nvPicPr>
        <p:blipFill>
          <a:blip r:embed="rId8"/>
          <a:stretch>
            <a:fillRect/>
          </a:stretch>
        </p:blipFill>
        <p:spPr>
          <a:xfrm>
            <a:off x="610419" y="4025280"/>
            <a:ext cx="142875" cy="114300"/>
          </a:xfrm>
          <a:prstGeom prst="rect">
            <a:avLst/>
          </a:prstGeom>
        </p:spPr>
      </p:pic>
      <p:sp>
        <p:nvSpPr>
          <p:cNvPr id="21" name="Text 13"/>
          <p:cNvSpPr/>
          <p:nvPr/>
        </p:nvSpPr>
        <p:spPr>
          <a:xfrm>
            <a:off x="867594" y="3991570"/>
            <a:ext cx="4236988" cy="52752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FFFFFF"/>
                </a:solidFill>
                <a:latin typeface="Roboto" pitchFamily="34" charset="0"/>
                <a:ea typeface="Roboto" pitchFamily="34" charset="-122"/>
                <a:cs typeface="Roboto" pitchFamily="34" charset="-120"/>
              </a:rPr>
              <a:t> EDA visuals informed feature engineering and validated model assumptions — charts included in the project notebook and Tableau dashboard for stakeholder review.</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466376" y="-23660"/>
            <a:ext cx="3310830" cy="4966246"/>
          </a:xfrm>
          <a:prstGeom prst="rect">
            <a:avLst/>
          </a:prstGeom>
        </p:spPr>
      </p:pic>
      <p:sp>
        <p:nvSpPr>
          <p:cNvPr id="4" name="Text 1"/>
          <p:cNvSpPr/>
          <p:nvPr/>
        </p:nvSpPr>
        <p:spPr>
          <a:xfrm>
            <a:off x="496119" y="438671"/>
            <a:ext cx="4004444" cy="295573"/>
          </a:xfrm>
          <a:prstGeom prst="rect">
            <a:avLst/>
          </a:prstGeom>
          <a:noFill/>
          <a:ln/>
        </p:spPr>
        <p:txBody>
          <a:bodyPr wrap="none" lIns="0" tIns="0" rIns="0" bIns="0" rtlCol="0" anchor="t"/>
          <a:lstStyle/>
          <a:p>
            <a:pPr marL="0" indent="0" algn="l">
              <a:lnSpc>
                <a:spcPct val="104000"/>
              </a:lnSpc>
              <a:buNone/>
            </a:pPr>
            <a:r>
              <a:rPr lang="en-US" sz="1850" dirty="0">
                <a:solidFill>
                  <a:srgbClr val="FFFFFF"/>
                </a:solidFill>
                <a:latin typeface="Roboto Medium" pitchFamily="34" charset="0"/>
                <a:ea typeface="Roboto Medium" pitchFamily="34" charset="-122"/>
                <a:cs typeface="Roboto Medium" pitchFamily="34" charset="-120"/>
              </a:rPr>
              <a:t>SQL Business Analysis Highlights</a:t>
            </a:r>
            <a:endParaRPr lang="en-US" sz="1850" dirty="0"/>
          </a:p>
        </p:txBody>
      </p:sp>
      <p:sp>
        <p:nvSpPr>
          <p:cNvPr id="5" name="Text 2"/>
          <p:cNvSpPr/>
          <p:nvPr/>
        </p:nvSpPr>
        <p:spPr>
          <a:xfrm>
            <a:off x="496119" y="903238"/>
            <a:ext cx="4722763" cy="369391"/>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 SQL queries enabled fast, repeatable business analyses used in dashboards and to create model-ready aggregations. Queries were translated into views for downstream use. </a:t>
            </a:r>
            <a:endParaRPr lang="en-US" sz="9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399356"/>
            <a:ext cx="2305050" cy="1781101"/>
          </a:xfrm>
          <a:prstGeom prst="rect">
            <a:avLst/>
          </a:prstGeom>
        </p:spPr>
      </p:pic>
      <p:pic>
        <p:nvPicPr>
          <p:cNvPr id="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577727" y="1505694"/>
            <a:ext cx="141833" cy="141833"/>
          </a:xfrm>
          <a:prstGeom prst="rect">
            <a:avLst/>
          </a:prstGeom>
        </p:spPr>
      </p:pic>
      <p:sp>
        <p:nvSpPr>
          <p:cNvPr id="8" name="Text 3"/>
          <p:cNvSpPr/>
          <p:nvPr/>
        </p:nvSpPr>
        <p:spPr>
          <a:xfrm>
            <a:off x="628576" y="1872258"/>
            <a:ext cx="1477863"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Contract vs Churn</a:t>
            </a:r>
            <a:endParaRPr lang="en-US" sz="1150" dirty="0"/>
          </a:p>
        </p:txBody>
      </p:sp>
      <p:sp>
        <p:nvSpPr>
          <p:cNvPr id="9" name="Text 4"/>
          <p:cNvSpPr/>
          <p:nvPr/>
        </p:nvSpPr>
        <p:spPr>
          <a:xfrm>
            <a:off x="628576" y="2124521"/>
            <a:ext cx="2040136" cy="923479"/>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Month-to-month customers show the highest churn rates: 2,220 total, with 1,655 churn. One year has 1,307 total, with 1,307 churn. Two year has 1,647 total, with 1,647 churn.</a:t>
            </a:r>
            <a:endParaRPr lang="en-US" sz="900" dirty="0"/>
          </a:p>
        </p:txBody>
      </p:sp>
      <p:pic>
        <p:nvPicPr>
          <p:cNvPr id="10"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913831" y="1399356"/>
            <a:ext cx="2305050" cy="1781101"/>
          </a:xfrm>
          <a:prstGeom prst="rect">
            <a:avLst/>
          </a:prstGeom>
        </p:spPr>
      </p:pic>
      <p:pic>
        <p:nvPicPr>
          <p:cNvPr id="11" name="Image 4"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995440" y="1505694"/>
            <a:ext cx="141833" cy="141833"/>
          </a:xfrm>
          <a:prstGeom prst="rect">
            <a:avLst/>
          </a:prstGeom>
        </p:spPr>
      </p:pic>
      <p:sp>
        <p:nvSpPr>
          <p:cNvPr id="12" name="Text 5"/>
          <p:cNvSpPr/>
          <p:nvPr/>
        </p:nvSpPr>
        <p:spPr>
          <a:xfrm>
            <a:off x="3046288" y="1872258"/>
            <a:ext cx="1881262"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Internet Service Comparison</a:t>
            </a:r>
            <a:endParaRPr lang="en-US" sz="1150" dirty="0"/>
          </a:p>
        </p:txBody>
      </p:sp>
      <p:sp>
        <p:nvSpPr>
          <p:cNvPr id="13" name="Text 6"/>
          <p:cNvSpPr/>
          <p:nvPr/>
        </p:nvSpPr>
        <p:spPr>
          <a:xfrm>
            <a:off x="3046288" y="2124521"/>
            <a:ext cx="2040136"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DSL has 1,962 churn, Fiber optic has 1,799 churn, and No internet has 1,413 churn.</a:t>
            </a:r>
            <a:endParaRPr lang="en-US" sz="900" dirty="0"/>
          </a:p>
        </p:txBody>
      </p:sp>
      <p:pic>
        <p:nvPicPr>
          <p:cNvPr id="14" name="Image 5"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3293120"/>
            <a:ext cx="4722763" cy="1411709"/>
          </a:xfrm>
          <a:prstGeom prst="rect">
            <a:avLst/>
          </a:prstGeom>
        </p:spPr>
      </p:pic>
      <p:pic>
        <p:nvPicPr>
          <p:cNvPr id="15" name="Image 6"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786583" y="3399458"/>
            <a:ext cx="141833" cy="141833"/>
          </a:xfrm>
          <a:prstGeom prst="rect">
            <a:avLst/>
          </a:prstGeom>
        </p:spPr>
      </p:pic>
      <p:sp>
        <p:nvSpPr>
          <p:cNvPr id="16" name="Text 7"/>
          <p:cNvSpPr/>
          <p:nvPr/>
        </p:nvSpPr>
        <p:spPr>
          <a:xfrm>
            <a:off x="628576" y="3766021"/>
            <a:ext cx="1721793" cy="184696"/>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Payment Method Analysis</a:t>
            </a:r>
            <a:endParaRPr lang="en-US" sz="1150" dirty="0"/>
          </a:p>
        </p:txBody>
      </p:sp>
      <p:sp>
        <p:nvSpPr>
          <p:cNvPr id="17" name="Text 8"/>
          <p:cNvSpPr/>
          <p:nvPr/>
        </p:nvSpPr>
        <p:spPr>
          <a:xfrm>
            <a:off x="628576" y="4018285"/>
            <a:ext cx="4457849" cy="554087"/>
          </a:xfrm>
          <a:prstGeom prst="rect">
            <a:avLst/>
          </a:prstGeom>
          <a:noFill/>
          <a:ln/>
        </p:spPr>
        <p:txBody>
          <a:bodyPr wrap="square" lIns="0" tIns="0" rIns="0" bIns="0" rtlCol="0" anchor="t">
            <a:normAutofit/>
          </a:bodyPr>
          <a:lstStyle/>
          <a:p>
            <a:pPr marL="0" indent="0" algn="l">
              <a:lnSpc>
                <a:spcPct val="130000"/>
              </a:lnSpc>
              <a:buNone/>
            </a:pPr>
            <a:r>
              <a:rPr lang="en-US" sz="900" dirty="0">
                <a:solidFill>
                  <a:srgbClr val="CFD0D8"/>
                </a:solidFill>
                <a:latin typeface="Roboto" pitchFamily="34" charset="0"/>
                <a:ea typeface="Roboto" pitchFamily="34" charset="-122"/>
                <a:cs typeface="Roboto" pitchFamily="34" charset="-120"/>
              </a:rPr>
              <a:t>Electronic check users have 1,294 total, with 1,071 churn. Mailed check has 1,304 total, with 308 churn. Bank transfer has 1,286 total, with 258 churn. Credit card has 1,290 total, with 232 churn.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251568" y="165646"/>
            <a:ext cx="3318570" cy="4977854"/>
          </a:xfrm>
          <a:prstGeom prst="rect">
            <a:avLst/>
          </a:prstGeom>
        </p:spPr>
      </p:pic>
      <p:sp>
        <p:nvSpPr>
          <p:cNvPr id="4" name="Text 1"/>
          <p:cNvSpPr/>
          <p:nvPr/>
        </p:nvSpPr>
        <p:spPr>
          <a:xfrm>
            <a:off x="3925119" y="480120"/>
            <a:ext cx="5122813" cy="276151"/>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Roboto Medium" pitchFamily="34" charset="0"/>
                <a:ea typeface="Roboto Medium" pitchFamily="34" charset="-122"/>
                <a:cs typeface="Roboto Medium" pitchFamily="34" charset="-120"/>
              </a:rPr>
              <a:t>Machine Learning Model — Logistic Regression</a:t>
            </a:r>
            <a:endParaRPr lang="en-US" sz="1700" dirty="0"/>
          </a:p>
        </p:txBody>
      </p:sp>
      <p:sp>
        <p:nvSpPr>
          <p:cNvPr id="5" name="Text 2"/>
          <p:cNvSpPr/>
          <p:nvPr/>
        </p:nvSpPr>
        <p:spPr>
          <a:xfrm>
            <a:off x="3925119" y="903833"/>
            <a:ext cx="4722763"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 A transparent, interpretable logistic regression model was trained to predict customer churn. Emphasis was placed on stability, interpretability, and business translation of coefficients. </a:t>
            </a:r>
            <a:endParaRPr lang="en-US" sz="850" dirty="0"/>
          </a:p>
        </p:txBody>
      </p:sp>
      <p:sp>
        <p:nvSpPr>
          <p:cNvPr id="7" name="Text 4"/>
          <p:cNvSpPr/>
          <p:nvPr/>
        </p:nvSpPr>
        <p:spPr>
          <a:xfrm>
            <a:off x="4040312" y="1463948"/>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Features Included</a:t>
            </a:r>
            <a:endParaRPr lang="en-US" sz="1050" dirty="0"/>
          </a:p>
        </p:txBody>
      </p:sp>
      <p:sp>
        <p:nvSpPr>
          <p:cNvPr id="8" name="Text 5"/>
          <p:cNvSpPr/>
          <p:nvPr/>
        </p:nvSpPr>
        <p:spPr>
          <a:xfrm>
            <a:off x="4040312" y="1695599"/>
            <a:ext cx="2081808" cy="835670"/>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Tenure, MonthlyCharges, TotalCharges, Contract (encoded), InternetService (encoded), PaymentMethod (encoded), and selected interaction terms. Feature scaling applied where appropriate.</a:t>
            </a:r>
            <a:endParaRPr lang="en-US" sz="850" dirty="0"/>
          </a:p>
        </p:txBody>
      </p:sp>
      <p:sp>
        <p:nvSpPr>
          <p:cNvPr id="10" name="Text 7"/>
          <p:cNvSpPr/>
          <p:nvPr/>
        </p:nvSpPr>
        <p:spPr>
          <a:xfrm>
            <a:off x="6450881" y="1463948"/>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Performance</a:t>
            </a:r>
            <a:endParaRPr lang="en-US" sz="1050" dirty="0"/>
          </a:p>
        </p:txBody>
      </p:sp>
      <p:sp>
        <p:nvSpPr>
          <p:cNvPr id="11" name="Text 8"/>
          <p:cNvSpPr/>
          <p:nvPr/>
        </p:nvSpPr>
        <p:spPr>
          <a:xfrm>
            <a:off x="6450881" y="1695599"/>
            <a:ext cx="2081808" cy="835670"/>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Model accuracy: </a:t>
            </a:r>
            <a:r>
              <a:rPr lang="en-US" sz="850" b="1" dirty="0">
                <a:solidFill>
                  <a:srgbClr val="CFD0D8"/>
                </a:solidFill>
                <a:latin typeface="Roboto" pitchFamily="34" charset="0"/>
                <a:ea typeface="Roboto" pitchFamily="34" charset="-122"/>
                <a:cs typeface="Roboto" pitchFamily="34" charset="-120"/>
              </a:rPr>
              <a:t>dashboard-aligned KPI</a:t>
            </a:r>
            <a:r>
              <a:rPr lang="en-US" sz="850" dirty="0">
                <a:solidFill>
                  <a:srgbClr val="CFD0D8"/>
                </a:solidFill>
                <a:latin typeface="Roboto" pitchFamily="34" charset="0"/>
                <a:ea typeface="Roboto" pitchFamily="34" charset="-122"/>
                <a:cs typeface="Roboto" pitchFamily="34" charset="-120"/>
              </a:rPr>
              <a:t> (evaluated using stratified cross-validation). Additional metrics include precision, recall, and ROC-AUC captured in model report for threshold selection.</a:t>
            </a:r>
            <a:endParaRPr lang="en-US" sz="850" dirty="0"/>
          </a:p>
        </p:txBody>
      </p:sp>
      <p:sp>
        <p:nvSpPr>
          <p:cNvPr id="13" name="Text 10"/>
          <p:cNvSpPr/>
          <p:nvPr/>
        </p:nvSpPr>
        <p:spPr>
          <a:xfrm>
            <a:off x="4040312" y="2860030"/>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Interpretation</a:t>
            </a:r>
            <a:endParaRPr lang="en-US" sz="1050" dirty="0"/>
          </a:p>
        </p:txBody>
      </p:sp>
      <p:sp>
        <p:nvSpPr>
          <p:cNvPr id="14" name="Text 11"/>
          <p:cNvSpPr/>
          <p:nvPr/>
        </p:nvSpPr>
        <p:spPr>
          <a:xfrm>
            <a:off x="4040312" y="3091681"/>
            <a:ext cx="4492377" cy="668536"/>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Month-to-month contracts have the highest churn risk, with a </a:t>
            </a:r>
            <a:r>
              <a:rPr lang="en-US" sz="850" b="1" dirty="0">
                <a:solidFill>
                  <a:srgbClr val="CFD0D8"/>
                </a:solidFill>
                <a:latin typeface="Roboto" pitchFamily="34" charset="0"/>
                <a:ea typeface="Roboto" pitchFamily="34" charset="-122"/>
                <a:cs typeface="Roboto" pitchFamily="34" charset="-120"/>
              </a:rPr>
              <a:t>74.5%</a:t>
            </a:r>
            <a:r>
              <a:rPr lang="en-US" sz="850" dirty="0">
                <a:solidFill>
                  <a:srgbClr val="CFD0D8"/>
                </a:solidFill>
                <a:latin typeface="Roboto" pitchFamily="34" charset="0"/>
                <a:ea typeface="Roboto" pitchFamily="34" charset="-122"/>
                <a:cs typeface="Roboto" pitchFamily="34" charset="-120"/>
              </a:rPr>
              <a:t> churn rate. Fiber optic customers show elevated churn, and electronic check payment method correlates with higher churn at </a:t>
            </a:r>
            <a:r>
              <a:rPr lang="en-US" sz="850" b="1" dirty="0">
                <a:solidFill>
                  <a:srgbClr val="CFD0D8"/>
                </a:solidFill>
                <a:latin typeface="Roboto" pitchFamily="34" charset="0"/>
                <a:ea typeface="Roboto" pitchFamily="34" charset="-122"/>
                <a:cs typeface="Roboto" pitchFamily="34" charset="-120"/>
              </a:rPr>
              <a:t>82.8%</a:t>
            </a:r>
            <a:r>
              <a:rPr lang="en-US" sz="850" dirty="0">
                <a:solidFill>
                  <a:srgbClr val="CFD0D8"/>
                </a:solidFill>
                <a:latin typeface="Roboto" pitchFamily="34" charset="0"/>
                <a:ea typeface="Roboto" pitchFamily="34" charset="-122"/>
                <a:cs typeface="Roboto" pitchFamily="34" charset="-120"/>
              </a:rPr>
              <a:t>. Tenure remains protective: longer tenure significantly reduces churn probability.</a:t>
            </a:r>
            <a:endParaRPr lang="en-US" sz="850" dirty="0"/>
          </a:p>
        </p:txBody>
      </p:sp>
      <p:sp>
        <p:nvSpPr>
          <p:cNvPr id="15" name="Shape 12"/>
          <p:cNvSpPr/>
          <p:nvPr/>
        </p:nvSpPr>
        <p:spPr>
          <a:xfrm>
            <a:off x="3925119" y="3986064"/>
            <a:ext cx="4722763" cy="566589"/>
          </a:xfrm>
          <a:prstGeom prst="roundRect">
            <a:avLst>
              <a:gd name="adj" fmla="val 8190"/>
            </a:avLst>
          </a:prstGeom>
          <a:solidFill>
            <a:srgbClr val="0F163E"/>
          </a:solidFill>
          <a:ln/>
        </p:spPr>
      </p:sp>
      <p:pic>
        <p:nvPicPr>
          <p:cNvPr id="16" name="Image 1" descr="preencoded.png"/>
          <p:cNvPicPr>
            <a:picLocks noChangeAspect="1"/>
          </p:cNvPicPr>
          <p:nvPr/>
        </p:nvPicPr>
        <p:blipFill>
          <a:blip r:embed="rId4"/>
          <a:stretch>
            <a:fillRect/>
          </a:stretch>
        </p:blipFill>
        <p:spPr>
          <a:xfrm>
            <a:off x="4035549" y="4136975"/>
            <a:ext cx="138038" cy="110430"/>
          </a:xfrm>
          <a:prstGeom prst="rect">
            <a:avLst/>
          </a:prstGeom>
        </p:spPr>
      </p:pic>
      <p:sp>
        <p:nvSpPr>
          <p:cNvPr id="17" name="Text 13"/>
          <p:cNvSpPr/>
          <p:nvPr/>
        </p:nvSpPr>
        <p:spPr>
          <a:xfrm>
            <a:off x="4284018" y="4102224"/>
            <a:ext cx="4253433"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FFFFFF"/>
                </a:solidFill>
                <a:latin typeface="Roboto" pitchFamily="34" charset="0"/>
                <a:ea typeface="Roboto" pitchFamily="34" charset="-122"/>
                <a:cs typeface="Roboto" pitchFamily="34" charset="-120"/>
              </a:rPr>
              <a:t> Model outputs are exported as a scored table for Tableau and for targeted retention campaign lists to be executed by CRM teams.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1294954"/>
            <a:ext cx="4904929" cy="310083"/>
          </a:xfrm>
          <a:prstGeom prst="rect">
            <a:avLst/>
          </a:prstGeom>
          <a:noFill/>
          <a:ln/>
        </p:spPr>
        <p:txBody>
          <a:bodyPr wrap="none" lIns="0" tIns="0" rIns="0" bIns="0" rtlCol="0" anchor="t"/>
          <a:lstStyle/>
          <a:p>
            <a:pPr marL="0" indent="0" algn="l">
              <a:lnSpc>
                <a:spcPct val="104000"/>
              </a:lnSpc>
              <a:buNone/>
            </a:pPr>
            <a:r>
              <a:rPr lang="en-US" sz="1950" dirty="0">
                <a:solidFill>
                  <a:srgbClr val="FFFFFF"/>
                </a:solidFill>
                <a:latin typeface="Roboto Medium" pitchFamily="34" charset="0"/>
                <a:ea typeface="Roboto Medium" pitchFamily="34" charset="-122"/>
                <a:cs typeface="Roboto Medium" pitchFamily="34" charset="-120"/>
              </a:rPr>
              <a:t>Tableau Dashboard &amp; Operationalization</a:t>
            </a:r>
            <a:endParaRPr lang="en-US" sz="1950" dirty="0"/>
          </a:p>
        </p:txBody>
      </p:sp>
      <p:sp>
        <p:nvSpPr>
          <p:cNvPr id="3" name="Text 1"/>
          <p:cNvSpPr/>
          <p:nvPr/>
        </p:nvSpPr>
        <p:spPr>
          <a:xfrm>
            <a:off x="496119" y="1853059"/>
            <a:ext cx="8608963" cy="198462"/>
          </a:xfrm>
          <a:prstGeom prst="rect">
            <a:avLst/>
          </a:prstGeom>
          <a:noFill/>
          <a:ln/>
        </p:spPr>
        <p:txBody>
          <a:bodyPr wrap="none" lIns="0" tIns="0" rIns="0" bIns="0" rtlCol="0" anchor="t"/>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 An executive dashboard was created to operationalize insights and enable drill-down analysis for product, marketing, and retention teams. </a:t>
            </a:r>
            <a:endParaRPr lang="en-US" sz="950" dirty="0"/>
          </a:p>
        </p:txBody>
      </p:sp>
      <p:pic>
        <p:nvPicPr>
          <p:cNvPr id="4" name="Image 0" descr="preencoded.png"/>
          <p:cNvPicPr>
            <a:picLocks noChangeAspect="1"/>
          </p:cNvPicPr>
          <p:nvPr/>
        </p:nvPicPr>
        <p:blipFill>
          <a:blip r:embed="rId3"/>
          <a:stretch>
            <a:fillRect/>
          </a:stretch>
        </p:blipFill>
        <p:spPr>
          <a:xfrm>
            <a:off x="496119" y="2191048"/>
            <a:ext cx="757982" cy="757982"/>
          </a:xfrm>
          <a:prstGeom prst="rect">
            <a:avLst/>
          </a:prstGeom>
        </p:spPr>
      </p:pic>
      <p:sp>
        <p:nvSpPr>
          <p:cNvPr id="5" name="Text 2"/>
          <p:cNvSpPr/>
          <p:nvPr/>
        </p:nvSpPr>
        <p:spPr>
          <a:xfrm>
            <a:off x="1409105" y="219104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KPI Cards</a:t>
            </a:r>
            <a:endParaRPr lang="en-US" sz="1200" dirty="0"/>
          </a:p>
        </p:txBody>
      </p:sp>
      <p:sp>
        <p:nvSpPr>
          <p:cNvPr id="6" name="Text 3"/>
          <p:cNvSpPr/>
          <p:nvPr/>
        </p:nvSpPr>
        <p:spPr>
          <a:xfrm>
            <a:off x="1409105" y="2459310"/>
            <a:ext cx="1700882"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Top-level metrics: Overall churn rate, monthly churn trend, average tenure, and average monthly charges; refreshable from production views.</a:t>
            </a:r>
            <a:endParaRPr lang="en-US" sz="950" dirty="0"/>
          </a:p>
        </p:txBody>
      </p:sp>
      <p:pic>
        <p:nvPicPr>
          <p:cNvPr id="7" name="Image 1" descr="preencoded.png"/>
          <p:cNvPicPr>
            <a:picLocks noChangeAspect="1"/>
          </p:cNvPicPr>
          <p:nvPr/>
        </p:nvPicPr>
        <p:blipFill>
          <a:blip r:embed="rId4"/>
          <a:stretch>
            <a:fillRect/>
          </a:stretch>
        </p:blipFill>
        <p:spPr>
          <a:xfrm>
            <a:off x="3264991" y="2191048"/>
            <a:ext cx="757982" cy="757982"/>
          </a:xfrm>
          <a:prstGeom prst="rect">
            <a:avLst/>
          </a:prstGeom>
        </p:spPr>
      </p:pic>
      <p:sp>
        <p:nvSpPr>
          <p:cNvPr id="8" name="Text 4"/>
          <p:cNvSpPr/>
          <p:nvPr/>
        </p:nvSpPr>
        <p:spPr>
          <a:xfrm>
            <a:off x="4177978" y="2191048"/>
            <a:ext cx="1700957"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Contract &amp; Service Analysis</a:t>
            </a:r>
            <a:endParaRPr lang="en-US" sz="1200" dirty="0"/>
          </a:p>
        </p:txBody>
      </p:sp>
      <p:sp>
        <p:nvSpPr>
          <p:cNvPr id="9" name="Text 5"/>
          <p:cNvSpPr/>
          <p:nvPr/>
        </p:nvSpPr>
        <p:spPr>
          <a:xfrm>
            <a:off x="4177978" y="2653159"/>
            <a:ext cx="1700957" cy="1190774"/>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Visual segmentation by contract type, internet service, and payment method with filters for region and tenure bucket to identify priority cohorts.</a:t>
            </a:r>
            <a:endParaRPr lang="en-US" sz="950" dirty="0"/>
          </a:p>
        </p:txBody>
      </p:sp>
      <p:pic>
        <p:nvPicPr>
          <p:cNvPr id="10" name="Image 2" descr="preencoded.png"/>
          <p:cNvPicPr>
            <a:picLocks noChangeAspect="1"/>
          </p:cNvPicPr>
          <p:nvPr/>
        </p:nvPicPr>
        <p:blipFill>
          <a:blip r:embed="rId5"/>
          <a:stretch>
            <a:fillRect/>
          </a:stretch>
        </p:blipFill>
        <p:spPr>
          <a:xfrm>
            <a:off x="6033939" y="2191048"/>
            <a:ext cx="757982" cy="757982"/>
          </a:xfrm>
          <a:prstGeom prst="rect">
            <a:avLst/>
          </a:prstGeom>
        </p:spPr>
      </p:pic>
      <p:sp>
        <p:nvSpPr>
          <p:cNvPr id="11" name="Text 6"/>
          <p:cNvSpPr/>
          <p:nvPr/>
        </p:nvSpPr>
        <p:spPr>
          <a:xfrm>
            <a:off x="6946925" y="2191048"/>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CFD0D8"/>
                </a:solidFill>
                <a:latin typeface="Roboto Medium" pitchFamily="34" charset="0"/>
                <a:ea typeface="Roboto Medium" pitchFamily="34" charset="-122"/>
                <a:cs typeface="Roboto Medium" pitchFamily="34" charset="-120"/>
              </a:rPr>
              <a:t>Interactivity</a:t>
            </a:r>
            <a:endParaRPr lang="en-US" sz="1200" dirty="0"/>
          </a:p>
        </p:txBody>
      </p:sp>
      <p:sp>
        <p:nvSpPr>
          <p:cNvPr id="12" name="Text 7"/>
          <p:cNvSpPr/>
          <p:nvPr/>
        </p:nvSpPr>
        <p:spPr>
          <a:xfrm>
            <a:off x="6946925" y="2459310"/>
            <a:ext cx="1700957" cy="1389236"/>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CFD0D8"/>
                </a:solidFill>
                <a:latin typeface="Roboto" pitchFamily="34" charset="0"/>
                <a:ea typeface="Roboto" pitchFamily="34" charset="-122"/>
                <a:cs typeface="Roboto" pitchFamily="34" charset="-120"/>
              </a:rPr>
              <a:t>Drill-to-customer lists, exportable scored cohorts, and scenario filters for “what-if” retention simulations (e.g., impact of reducing monthly bill by 10% for high-risk fiber customers).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374377"/>
            <a:ext cx="3775100" cy="276151"/>
          </a:xfrm>
          <a:prstGeom prst="rect">
            <a:avLst/>
          </a:prstGeom>
          <a:noFill/>
          <a:ln/>
        </p:spPr>
        <p:txBody>
          <a:bodyPr wrap="none" lIns="0" tIns="0" rIns="0" bIns="0" rtlCol="0" anchor="t"/>
          <a:lstStyle/>
          <a:p>
            <a:pPr marL="0" indent="0" algn="l">
              <a:lnSpc>
                <a:spcPct val="104000"/>
              </a:lnSpc>
              <a:buNone/>
            </a:pPr>
            <a:r>
              <a:rPr lang="en-US" sz="1700" dirty="0">
                <a:solidFill>
                  <a:srgbClr val="FFFFFF"/>
                </a:solidFill>
                <a:latin typeface="Roboto Medium" pitchFamily="34" charset="0"/>
                <a:ea typeface="Roboto Medium" pitchFamily="34" charset="-122"/>
                <a:cs typeface="Roboto Medium" pitchFamily="34" charset="-120"/>
              </a:rPr>
              <a:t>Key Insights &amp; Recommendations</a:t>
            </a:r>
            <a:endParaRPr lang="en-US" sz="1700" dirty="0"/>
          </a:p>
        </p:txBody>
      </p:sp>
      <p:sp>
        <p:nvSpPr>
          <p:cNvPr id="3" name="Text 1"/>
          <p:cNvSpPr/>
          <p:nvPr/>
        </p:nvSpPr>
        <p:spPr>
          <a:xfrm>
            <a:off x="496119" y="847279"/>
            <a:ext cx="8151763" cy="33426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Synthesis of dashboard-backed analytics and model outputs into recommended actions that balance short-term retention lift and longer-term customer experience investments.</a:t>
            </a:r>
            <a:endParaRPr lang="en-US" sz="850" dirty="0"/>
          </a:p>
        </p:txBody>
      </p:sp>
      <p:sp>
        <p:nvSpPr>
          <p:cNvPr id="6" name="Text 4"/>
          <p:cNvSpPr/>
          <p:nvPr/>
        </p:nvSpPr>
        <p:spPr>
          <a:xfrm>
            <a:off x="611312" y="140739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Contract Type</a:t>
            </a:r>
            <a:endParaRPr lang="en-US" sz="1050" dirty="0"/>
          </a:p>
        </p:txBody>
      </p:sp>
      <p:sp>
        <p:nvSpPr>
          <p:cNvPr id="7" name="Text 5"/>
          <p:cNvSpPr/>
          <p:nvPr/>
        </p:nvSpPr>
        <p:spPr>
          <a:xfrm>
            <a:off x="611312" y="1639044"/>
            <a:ext cx="1814661" cy="1002804"/>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Month-to-month customers have the highest churn rate at </a:t>
            </a:r>
            <a:r>
              <a:rPr lang="en-US" sz="850" b="1" dirty="0">
                <a:solidFill>
                  <a:srgbClr val="CFD0D8"/>
                </a:solidFill>
                <a:latin typeface="Roboto" pitchFamily="34" charset="0"/>
                <a:ea typeface="Roboto" pitchFamily="34" charset="-122"/>
                <a:cs typeface="Roboto" pitchFamily="34" charset="-120"/>
              </a:rPr>
              <a:t>74.5%</a:t>
            </a:r>
            <a:r>
              <a:rPr lang="en-US" sz="850" dirty="0">
                <a:solidFill>
                  <a:srgbClr val="CFD0D8"/>
                </a:solidFill>
                <a:latin typeface="Roboto" pitchFamily="34" charset="0"/>
                <a:ea typeface="Roboto" pitchFamily="34" charset="-122"/>
                <a:cs typeface="Roboto" pitchFamily="34" charset="-120"/>
              </a:rPr>
              <a:t> (</a:t>
            </a:r>
            <a:r>
              <a:rPr lang="en-US" sz="850" b="1" dirty="0">
                <a:solidFill>
                  <a:srgbClr val="CFD0D8"/>
                </a:solidFill>
                <a:latin typeface="Roboto" pitchFamily="34" charset="0"/>
                <a:ea typeface="Roboto" pitchFamily="34" charset="-122"/>
                <a:cs typeface="Roboto" pitchFamily="34" charset="-120"/>
              </a:rPr>
              <a:t>1,655 of 2,220</a:t>
            </a:r>
            <a:r>
              <a:rPr lang="en-US" sz="850" dirty="0">
                <a:solidFill>
                  <a:srgbClr val="CFD0D8"/>
                </a:solidFill>
                <a:latin typeface="Roboto" pitchFamily="34" charset="0"/>
                <a:ea typeface="Roboto" pitchFamily="34" charset="-122"/>
                <a:cs typeface="Roboto" pitchFamily="34" charset="-120"/>
              </a:rPr>
              <a:t>). Prioritize converting these customers to 12- or 24-month contracts with targeted renewal incentives.</a:t>
            </a:r>
            <a:endParaRPr lang="en-US" sz="850" dirty="0"/>
          </a:p>
        </p:txBody>
      </p:sp>
      <p:sp>
        <p:nvSpPr>
          <p:cNvPr id="9" name="Shape 7"/>
          <p:cNvSpPr/>
          <p:nvPr/>
        </p:nvSpPr>
        <p:spPr>
          <a:xfrm>
            <a:off x="2536403" y="1296963"/>
            <a:ext cx="14288" cy="1622450"/>
          </a:xfrm>
          <a:prstGeom prst="roundRect">
            <a:avLst>
              <a:gd name="adj" fmla="val 324756"/>
            </a:avLst>
          </a:prstGeom>
          <a:solidFill>
            <a:srgbClr val="313E80"/>
          </a:solidFill>
          <a:ln/>
        </p:spPr>
      </p:sp>
      <p:sp>
        <p:nvSpPr>
          <p:cNvPr id="10" name="Text 8"/>
          <p:cNvSpPr/>
          <p:nvPr/>
        </p:nvSpPr>
        <p:spPr>
          <a:xfrm>
            <a:off x="2646834" y="140739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Service &amp; Experience</a:t>
            </a:r>
            <a:endParaRPr lang="en-US" sz="1050" dirty="0"/>
          </a:p>
        </p:txBody>
      </p:sp>
      <p:sp>
        <p:nvSpPr>
          <p:cNvPr id="11" name="Text 9"/>
          <p:cNvSpPr/>
          <p:nvPr/>
        </p:nvSpPr>
        <p:spPr>
          <a:xfrm>
            <a:off x="2646834" y="1639044"/>
            <a:ext cx="1814736" cy="1169938"/>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Fiber optic customers account for </a:t>
            </a:r>
            <a:r>
              <a:rPr lang="en-US" sz="850" b="1" dirty="0">
                <a:solidFill>
                  <a:srgbClr val="CFD0D8"/>
                </a:solidFill>
                <a:latin typeface="Roboto" pitchFamily="34" charset="0"/>
                <a:ea typeface="Roboto" pitchFamily="34" charset="-122"/>
                <a:cs typeface="Roboto" pitchFamily="34" charset="-120"/>
              </a:rPr>
              <a:t>1,799 churners</a:t>
            </a:r>
            <a:r>
              <a:rPr lang="en-US" sz="850" dirty="0">
                <a:solidFill>
                  <a:srgbClr val="CFD0D8"/>
                </a:solidFill>
                <a:latin typeface="Roboto" pitchFamily="34" charset="0"/>
                <a:ea typeface="Roboto" pitchFamily="34" charset="-122"/>
                <a:cs typeface="Roboto" pitchFamily="34" charset="-120"/>
              </a:rPr>
              <a:t>, making service quality a critical retention lever. Focus on network reliability, proactive issue resolution, and priority support for at-risk fiber users.</a:t>
            </a:r>
            <a:endParaRPr lang="en-US" sz="850" dirty="0"/>
          </a:p>
        </p:txBody>
      </p:sp>
      <p:sp>
        <p:nvSpPr>
          <p:cNvPr id="13" name="Shape 11"/>
          <p:cNvSpPr/>
          <p:nvPr/>
        </p:nvSpPr>
        <p:spPr>
          <a:xfrm>
            <a:off x="4572000" y="1296963"/>
            <a:ext cx="14288" cy="1622450"/>
          </a:xfrm>
          <a:prstGeom prst="roundRect">
            <a:avLst>
              <a:gd name="adj" fmla="val 324756"/>
            </a:avLst>
          </a:prstGeom>
          <a:solidFill>
            <a:srgbClr val="313E80"/>
          </a:solidFill>
          <a:ln/>
        </p:spPr>
      </p:sp>
      <p:sp>
        <p:nvSpPr>
          <p:cNvPr id="14" name="Text 12"/>
          <p:cNvSpPr/>
          <p:nvPr/>
        </p:nvSpPr>
        <p:spPr>
          <a:xfrm>
            <a:off x="4682430" y="140739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Payment Method</a:t>
            </a:r>
            <a:endParaRPr lang="en-US" sz="1050" dirty="0"/>
          </a:p>
        </p:txBody>
      </p:sp>
      <p:sp>
        <p:nvSpPr>
          <p:cNvPr id="15" name="Text 13"/>
          <p:cNvSpPr/>
          <p:nvPr/>
        </p:nvSpPr>
        <p:spPr>
          <a:xfrm>
            <a:off x="4682430" y="1639044"/>
            <a:ext cx="1814661" cy="1002804"/>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Electronic check users show an </a:t>
            </a:r>
            <a:r>
              <a:rPr lang="en-US" sz="850" b="1" dirty="0">
                <a:solidFill>
                  <a:srgbClr val="CFD0D8"/>
                </a:solidFill>
                <a:latin typeface="Roboto" pitchFamily="34" charset="0"/>
                <a:ea typeface="Roboto" pitchFamily="34" charset="-122"/>
                <a:cs typeface="Roboto" pitchFamily="34" charset="-120"/>
              </a:rPr>
              <a:t>82.8%</a:t>
            </a:r>
            <a:r>
              <a:rPr lang="en-US" sz="850" dirty="0">
                <a:solidFill>
                  <a:srgbClr val="CFD0D8"/>
                </a:solidFill>
                <a:latin typeface="Roboto" pitchFamily="34" charset="0"/>
                <a:ea typeface="Roboto" pitchFamily="34" charset="-122"/>
                <a:cs typeface="Roboto" pitchFamily="34" charset="-120"/>
              </a:rPr>
              <a:t> churn rate (</a:t>
            </a:r>
            <a:r>
              <a:rPr lang="en-US" sz="850" b="1" dirty="0">
                <a:solidFill>
                  <a:srgbClr val="CFD0D8"/>
                </a:solidFill>
                <a:latin typeface="Roboto" pitchFamily="34" charset="0"/>
                <a:ea typeface="Roboto" pitchFamily="34" charset="-122"/>
                <a:cs typeface="Roboto" pitchFamily="34" charset="-120"/>
              </a:rPr>
              <a:t>1,071 of 1,294</a:t>
            </a:r>
            <a:r>
              <a:rPr lang="en-US" sz="850" dirty="0">
                <a:solidFill>
                  <a:srgbClr val="CFD0D8"/>
                </a:solidFill>
                <a:latin typeface="Roboto" pitchFamily="34" charset="0"/>
                <a:ea typeface="Roboto" pitchFamily="34" charset="-122"/>
                <a:cs typeface="Roboto" pitchFamily="34" charset="-120"/>
              </a:rPr>
              <a:t>). Implement automated billing reminders, autopay enrollment, and alternative payment options to reduce billing friction.</a:t>
            </a:r>
            <a:endParaRPr lang="en-US" sz="850" dirty="0"/>
          </a:p>
        </p:txBody>
      </p:sp>
      <p:sp>
        <p:nvSpPr>
          <p:cNvPr id="17" name="Shape 15"/>
          <p:cNvSpPr/>
          <p:nvPr/>
        </p:nvSpPr>
        <p:spPr>
          <a:xfrm>
            <a:off x="6607522" y="1296963"/>
            <a:ext cx="14288" cy="1622450"/>
          </a:xfrm>
          <a:prstGeom prst="roundRect">
            <a:avLst>
              <a:gd name="adj" fmla="val 324756"/>
            </a:avLst>
          </a:prstGeom>
          <a:solidFill>
            <a:srgbClr val="313E80"/>
          </a:solidFill>
          <a:ln/>
        </p:spPr>
      </p:sp>
      <p:sp>
        <p:nvSpPr>
          <p:cNvPr id="18" name="Text 16"/>
          <p:cNvSpPr/>
          <p:nvPr/>
        </p:nvSpPr>
        <p:spPr>
          <a:xfrm>
            <a:off x="6717953" y="140739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Tenure</a:t>
            </a:r>
            <a:endParaRPr lang="en-US" sz="1050" dirty="0"/>
          </a:p>
        </p:txBody>
      </p:sp>
      <p:sp>
        <p:nvSpPr>
          <p:cNvPr id="19" name="Text 17"/>
          <p:cNvSpPr/>
          <p:nvPr/>
        </p:nvSpPr>
        <p:spPr>
          <a:xfrm>
            <a:off x="6717953" y="1639044"/>
            <a:ext cx="1814736" cy="835670"/>
          </a:xfrm>
          <a:prstGeom prst="rect">
            <a:avLst/>
          </a:prstGeom>
          <a:noFill/>
          <a:ln/>
        </p:spPr>
        <p:txBody>
          <a:bodyPr wrap="square" lIns="0" tIns="0" rIns="0" bIns="0" rtlCol="0" anchor="t">
            <a:normAutofit/>
          </a:bodyPr>
          <a:lstStyle/>
          <a:p>
            <a:pPr marL="0" indent="0" algn="l">
              <a:lnSpc>
                <a:spcPct val="126000"/>
              </a:lnSpc>
              <a:buNone/>
            </a:pPr>
            <a:r>
              <a:rPr lang="en-US" sz="850" dirty="0">
                <a:solidFill>
                  <a:srgbClr val="CFD0D8"/>
                </a:solidFill>
                <a:latin typeface="Roboto" pitchFamily="34" charset="0"/>
                <a:ea typeface="Roboto" pitchFamily="34" charset="-122"/>
                <a:cs typeface="Roboto" pitchFamily="34" charset="-120"/>
              </a:rPr>
              <a:t>Churners average </a:t>
            </a:r>
            <a:r>
              <a:rPr lang="en-US" sz="850" b="1" dirty="0">
                <a:solidFill>
                  <a:srgbClr val="CFD0D8"/>
                </a:solidFill>
                <a:latin typeface="Roboto" pitchFamily="34" charset="0"/>
                <a:ea typeface="Roboto" pitchFamily="34" charset="-122"/>
                <a:cs typeface="Roboto" pitchFamily="34" charset="-120"/>
              </a:rPr>
              <a:t>17.98 months</a:t>
            </a:r>
            <a:r>
              <a:rPr lang="en-US" sz="850" dirty="0">
                <a:solidFill>
                  <a:srgbClr val="CFD0D8"/>
                </a:solidFill>
                <a:latin typeface="Roboto" pitchFamily="34" charset="0"/>
                <a:ea typeface="Roboto" pitchFamily="34" charset="-122"/>
                <a:cs typeface="Roboto" pitchFamily="34" charset="-120"/>
              </a:rPr>
              <a:t> of tenure versus </a:t>
            </a:r>
            <a:r>
              <a:rPr lang="en-US" sz="850" b="1" dirty="0">
                <a:solidFill>
                  <a:srgbClr val="CFD0D8"/>
                </a:solidFill>
                <a:latin typeface="Roboto" pitchFamily="34" charset="0"/>
                <a:ea typeface="Roboto" pitchFamily="34" charset="-122"/>
                <a:cs typeface="Roboto" pitchFamily="34" charset="-120"/>
              </a:rPr>
              <a:t>37.57 months</a:t>
            </a:r>
            <a:r>
              <a:rPr lang="en-US" sz="850" dirty="0">
                <a:solidFill>
                  <a:srgbClr val="CFD0D8"/>
                </a:solidFill>
                <a:latin typeface="Roboto" pitchFamily="34" charset="0"/>
                <a:ea typeface="Roboto" pitchFamily="34" charset="-122"/>
                <a:cs typeface="Roboto" pitchFamily="34" charset="-120"/>
              </a:rPr>
              <a:t> for non-churners, a gap of </a:t>
            </a:r>
            <a:r>
              <a:rPr lang="en-US" sz="850" b="1" dirty="0">
                <a:solidFill>
                  <a:srgbClr val="CFD0D8"/>
                </a:solidFill>
                <a:latin typeface="Roboto" pitchFamily="34" charset="0"/>
                <a:ea typeface="Roboto" pitchFamily="34" charset="-122"/>
                <a:cs typeface="Roboto" pitchFamily="34" charset="-120"/>
              </a:rPr>
              <a:t>19.59 months</a:t>
            </a:r>
            <a:r>
              <a:rPr lang="en-US" sz="850" dirty="0">
                <a:solidFill>
                  <a:srgbClr val="CFD0D8"/>
                </a:solidFill>
                <a:latin typeface="Roboto" pitchFamily="34" charset="0"/>
                <a:ea typeface="Roboto" pitchFamily="34" charset="-122"/>
                <a:cs typeface="Roboto" pitchFamily="34" charset="-120"/>
              </a:rPr>
              <a:t>. The early lifecycle is the most critical window for intervention.</a:t>
            </a:r>
            <a:endParaRPr lang="en-US" sz="850" dirty="0"/>
          </a:p>
        </p:txBody>
      </p:sp>
      <p:sp>
        <p:nvSpPr>
          <p:cNvPr id="21" name="Shape 19"/>
          <p:cNvSpPr/>
          <p:nvPr/>
        </p:nvSpPr>
        <p:spPr>
          <a:xfrm>
            <a:off x="500881" y="2919413"/>
            <a:ext cx="8142238" cy="14288"/>
          </a:xfrm>
          <a:prstGeom prst="roundRect">
            <a:avLst>
              <a:gd name="adj" fmla="val 324756"/>
            </a:avLst>
          </a:prstGeom>
          <a:solidFill>
            <a:srgbClr val="313E80"/>
          </a:solidFill>
          <a:ln/>
        </p:spPr>
      </p:sp>
      <p:sp>
        <p:nvSpPr>
          <p:cNvPr id="22" name="Text 20"/>
          <p:cNvSpPr/>
          <p:nvPr/>
        </p:nvSpPr>
        <p:spPr>
          <a:xfrm>
            <a:off x="611312" y="3029843"/>
            <a:ext cx="1380976" cy="172641"/>
          </a:xfrm>
          <a:prstGeom prst="rect">
            <a:avLst/>
          </a:prstGeom>
          <a:noFill/>
          <a:ln/>
        </p:spPr>
        <p:txBody>
          <a:bodyPr wrap="none" lIns="0" tIns="0" rIns="0" bIns="0" rtlCol="0" anchor="t"/>
          <a:lstStyle/>
          <a:p>
            <a:pPr marL="0" indent="0" algn="l">
              <a:lnSpc>
                <a:spcPct val="104000"/>
              </a:lnSpc>
              <a:buNone/>
            </a:pPr>
            <a:r>
              <a:rPr lang="en-US" sz="1050" dirty="0">
                <a:solidFill>
                  <a:srgbClr val="CFD0D8"/>
                </a:solidFill>
                <a:latin typeface="Roboto Medium" pitchFamily="34" charset="0"/>
                <a:ea typeface="Roboto Medium" pitchFamily="34" charset="-122"/>
                <a:cs typeface="Roboto Medium" pitchFamily="34" charset="-120"/>
              </a:rPr>
              <a:t>Action Plan</a:t>
            </a:r>
            <a:endParaRPr lang="en-US" sz="1050" dirty="0"/>
          </a:p>
        </p:txBody>
      </p:sp>
      <p:sp>
        <p:nvSpPr>
          <p:cNvPr id="23" name="Text 21"/>
          <p:cNvSpPr/>
          <p:nvPr/>
        </p:nvSpPr>
        <p:spPr>
          <a:xfrm>
            <a:off x="611312" y="3261494"/>
            <a:ext cx="7921377" cy="771674"/>
          </a:xfrm>
          <a:prstGeom prst="rect">
            <a:avLst/>
          </a:prstGeom>
          <a:noFill/>
          <a:ln/>
        </p:spPr>
        <p:txBody>
          <a:bodyPr wrap="square" lIns="0" tIns="0" rIns="0" bIns="0" rtlCol="0" anchor="t">
            <a:normAutofit/>
          </a:bodyPr>
          <a:lstStyle/>
          <a:p>
            <a:pPr marL="342900" indent="-342900" algn="l">
              <a:lnSpc>
                <a:spcPct val="126000"/>
              </a:lnSpc>
              <a:buSzPct val="100000"/>
              <a:buFont typeface="+mj-lt"/>
              <a:buAutoNum type="arabicPeriod"/>
            </a:pPr>
            <a:r>
              <a:rPr lang="en-US" sz="850" dirty="0">
                <a:solidFill>
                  <a:srgbClr val="CFD0D8"/>
                </a:solidFill>
                <a:latin typeface="Roboto" pitchFamily="34" charset="0"/>
                <a:ea typeface="Roboto" pitchFamily="34" charset="-122"/>
                <a:cs typeface="Roboto" pitchFamily="34" charset="-120"/>
              </a:rPr>
              <a:t>Launch retention campaigns for month-to-month, fiber, and electronic check cohorts using model scores to prioritize outreach.</a:t>
            </a:r>
            <a:endParaRPr lang="en-US" sz="850" dirty="0"/>
          </a:p>
          <a:p>
            <a:pPr marL="342900" indent="-342900" algn="l">
              <a:lnSpc>
                <a:spcPct val="126000"/>
              </a:lnSpc>
              <a:buSzPct val="100000"/>
              <a:buFont typeface="+mj-lt"/>
              <a:buAutoNum type="arabicPeriod" startAt="2"/>
            </a:pPr>
            <a:r>
              <a:rPr lang="en-US" sz="850" dirty="0">
                <a:solidFill>
                  <a:srgbClr val="CFD0D8"/>
                </a:solidFill>
                <a:latin typeface="Roboto" pitchFamily="34" charset="0"/>
                <a:ea typeface="Roboto" pitchFamily="34" charset="-122"/>
                <a:cs typeface="Roboto" pitchFamily="34" charset="-120"/>
              </a:rPr>
              <a:t>Test conversion offers: contract upgrades, bill credits, and autopay enrollment incentives to identify the lowest-cost retention lift.</a:t>
            </a:r>
            <a:endParaRPr lang="en-US" sz="850" dirty="0"/>
          </a:p>
          <a:p>
            <a:pPr marL="342900" indent="-342900" algn="l">
              <a:lnSpc>
                <a:spcPct val="126000"/>
              </a:lnSpc>
              <a:buSzPct val="100000"/>
              <a:buFont typeface="+mj-lt"/>
              <a:buAutoNum type="arabicPeriod" startAt="3"/>
            </a:pPr>
            <a:r>
              <a:rPr lang="en-US" sz="850" dirty="0">
                <a:solidFill>
                  <a:srgbClr val="CFD0D8"/>
                </a:solidFill>
                <a:latin typeface="Roboto" pitchFamily="34" charset="0"/>
                <a:ea typeface="Roboto" pitchFamily="34" charset="-122"/>
                <a:cs typeface="Roboto" pitchFamily="34" charset="-120"/>
              </a:rPr>
              <a:t>Build a first-90-days intervention program with onboarding check-ins, service quality monitoring, and proactive support for new customers.</a:t>
            </a:r>
            <a:endParaRPr lang="en-US" sz="850" dirty="0"/>
          </a:p>
          <a:p>
            <a:pPr marL="342900" indent="-342900" algn="l">
              <a:lnSpc>
                <a:spcPct val="126000"/>
              </a:lnSpc>
              <a:buSzPct val="100000"/>
              <a:buFont typeface="+mj-lt"/>
              <a:buAutoNum type="arabicPeriod" startAt="4"/>
            </a:pPr>
            <a:r>
              <a:rPr lang="en-US" sz="850" dirty="0">
                <a:solidFill>
                  <a:srgbClr val="CFD0D8"/>
                </a:solidFill>
                <a:latin typeface="Roboto" pitchFamily="34" charset="0"/>
                <a:ea typeface="Roboto" pitchFamily="34" charset="-122"/>
                <a:cs typeface="Roboto" pitchFamily="34" charset="-120"/>
              </a:rPr>
              <a:t>Push daily scored exports into CRM and review churn drivers monthly so messaging and offers can be adjusted quickly.</a:t>
            </a:r>
            <a:endParaRPr lang="en-US" sz="850" dirty="0"/>
          </a:p>
        </p:txBody>
      </p:sp>
      <p:sp>
        <p:nvSpPr>
          <p:cNvPr id="24" name="Shape 22"/>
          <p:cNvSpPr/>
          <p:nvPr/>
        </p:nvSpPr>
        <p:spPr>
          <a:xfrm>
            <a:off x="496119" y="4259014"/>
            <a:ext cx="8151763" cy="399455"/>
          </a:xfrm>
          <a:prstGeom prst="roundRect">
            <a:avLst>
              <a:gd name="adj" fmla="val 11616"/>
            </a:avLst>
          </a:prstGeom>
          <a:solidFill>
            <a:srgbClr val="183A13"/>
          </a:solidFill>
          <a:ln/>
        </p:spPr>
      </p:sp>
      <p:pic>
        <p:nvPicPr>
          <p:cNvPr id="25" name="Image 0" descr="preencoded.png"/>
          <p:cNvPicPr>
            <a:picLocks noChangeAspect="1"/>
          </p:cNvPicPr>
          <p:nvPr/>
        </p:nvPicPr>
        <p:blipFill>
          <a:blip r:embed="rId3"/>
          <a:stretch>
            <a:fillRect/>
          </a:stretch>
        </p:blipFill>
        <p:spPr>
          <a:xfrm>
            <a:off x="606549" y="4409926"/>
            <a:ext cx="138038" cy="110430"/>
          </a:xfrm>
          <a:prstGeom prst="rect">
            <a:avLst/>
          </a:prstGeom>
        </p:spPr>
      </p:pic>
      <p:sp>
        <p:nvSpPr>
          <p:cNvPr id="26" name="Text 23"/>
          <p:cNvSpPr/>
          <p:nvPr/>
        </p:nvSpPr>
        <p:spPr>
          <a:xfrm>
            <a:off x="855018" y="4375175"/>
            <a:ext cx="8139633" cy="167134"/>
          </a:xfrm>
          <a:prstGeom prst="rect">
            <a:avLst/>
          </a:prstGeom>
          <a:noFill/>
          <a:ln/>
        </p:spPr>
        <p:txBody>
          <a:bodyPr wrap="none" lIns="0" tIns="0" rIns="0" bIns="0" rtlCol="0" anchor="t"/>
          <a:lstStyle/>
          <a:p>
            <a:pPr marL="0" indent="0" algn="l">
              <a:lnSpc>
                <a:spcPct val="126000"/>
              </a:lnSpc>
              <a:buNone/>
            </a:pPr>
            <a:r>
              <a:rPr lang="en-US" sz="850" dirty="0">
                <a:solidFill>
                  <a:srgbClr val="FFFFFF"/>
                </a:solidFill>
                <a:latin typeface="Roboto" pitchFamily="34" charset="0"/>
                <a:ea typeface="Roboto" pitchFamily="34" charset="-122"/>
                <a:cs typeface="Roboto" pitchFamily="34" charset="-120"/>
              </a:rPr>
              <a:t>Expected outcome: lower monthly churn through targeted contract conversion, billing automation, and early-life retention interventions.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548204" y="-160023"/>
            <a:ext cx="3308896" cy="4963344"/>
          </a:xfrm>
          <a:prstGeom prst="rect">
            <a:avLst/>
          </a:prstGeom>
        </p:spPr>
      </p:pic>
      <p:sp>
        <p:nvSpPr>
          <p:cNvPr id="4" name="Text 1"/>
          <p:cNvSpPr/>
          <p:nvPr/>
        </p:nvSpPr>
        <p:spPr>
          <a:xfrm>
            <a:off x="496119" y="354583"/>
            <a:ext cx="3461445" cy="375493"/>
          </a:xfrm>
          <a:prstGeom prst="rect">
            <a:avLst/>
          </a:prstGeom>
          <a:noFill/>
          <a:ln/>
        </p:spPr>
        <p:txBody>
          <a:bodyPr wrap="none" lIns="0" tIns="0" rIns="0" bIns="0" rtlCol="0" anchor="t"/>
          <a:lstStyle/>
          <a:p>
            <a:pPr marL="0" indent="0" algn="l">
              <a:lnSpc>
                <a:spcPct val="104000"/>
              </a:lnSpc>
              <a:buNone/>
            </a:pPr>
            <a:r>
              <a:rPr lang="en-US" sz="2350" dirty="0">
                <a:solidFill>
                  <a:srgbClr val="FFFFFF"/>
                </a:solidFill>
                <a:latin typeface="Roboto Medium" pitchFamily="34" charset="0"/>
                <a:ea typeface="Roboto Medium" pitchFamily="34" charset="-122"/>
                <a:cs typeface="Roboto Medium" pitchFamily="34" charset="-120"/>
              </a:rPr>
              <a:t>Thank You</a:t>
            </a:r>
            <a:endParaRPr lang="en-US" sz="2350" dirty="0"/>
          </a:p>
        </p:txBody>
      </p:sp>
      <p:sp>
        <p:nvSpPr>
          <p:cNvPr id="5" name="Text 2"/>
          <p:cNvSpPr/>
          <p:nvPr/>
        </p:nvSpPr>
        <p:spPr>
          <a:xfrm>
            <a:off x="496119" y="904652"/>
            <a:ext cx="4722763" cy="567705"/>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CFD0D8"/>
                </a:solidFill>
                <a:latin typeface="Roboto" pitchFamily="34" charset="0"/>
                <a:ea typeface="Roboto" pitchFamily="34" charset="-122"/>
                <a:cs typeface="Roboto" pitchFamily="34" charset="-120"/>
              </a:rPr>
              <a:t>     This initiative combined SQL, Python, Machine Learning, and Tableau to identify churn drivers, prioritize at-risk segments, and enable measurable retention programs. The solution is designed to be scalable, explainable, and directly tied to business outcomes.   </a:t>
            </a:r>
            <a:endParaRPr lang="en-US" sz="900" dirty="0"/>
          </a:p>
        </p:txBody>
      </p:sp>
      <p:sp>
        <p:nvSpPr>
          <p:cNvPr id="6" name="Shape 3"/>
          <p:cNvSpPr/>
          <p:nvPr/>
        </p:nvSpPr>
        <p:spPr>
          <a:xfrm>
            <a:off x="496119" y="1667061"/>
            <a:ext cx="60052" cy="60052"/>
          </a:xfrm>
          <a:prstGeom prst="roundRect">
            <a:avLst>
              <a:gd name="adj" fmla="val 475838"/>
            </a:avLst>
          </a:prstGeom>
          <a:solidFill>
            <a:srgbClr val="5A6ED8"/>
          </a:solidFill>
          <a:ln/>
        </p:spPr>
      </p:sp>
      <p:sp>
        <p:nvSpPr>
          <p:cNvPr id="7" name="Text 4"/>
          <p:cNvSpPr/>
          <p:nvPr/>
        </p:nvSpPr>
        <p:spPr>
          <a:xfrm>
            <a:off x="672554" y="1603251"/>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Key Deliverables</a:t>
            </a:r>
            <a:endParaRPr lang="en-US" sz="1150" dirty="0"/>
          </a:p>
        </p:txBody>
      </p:sp>
      <p:sp>
        <p:nvSpPr>
          <p:cNvPr id="8" name="Text 5"/>
          <p:cNvSpPr/>
          <p:nvPr/>
        </p:nvSpPr>
        <p:spPr>
          <a:xfrm>
            <a:off x="672554" y="1860798"/>
            <a:ext cx="4546327" cy="879053"/>
          </a:xfrm>
          <a:prstGeom prst="rect">
            <a:avLst/>
          </a:prstGeom>
          <a:noFill/>
          <a:ln/>
        </p:spPr>
        <p:txBody>
          <a:bodyPr wrap="square" lIns="0" tIns="0" rIns="0" bIns="0" rtlCol="0" anchor="t">
            <a:normAutofit/>
          </a:bodyPr>
          <a:lstStyle/>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Data pipeline &amp; curated analytics schema (SQL)</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Feature engineering &amp; predictive model suite (Python)</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Interactive dashboards and risk operationalization (Tableau)</a:t>
            </a:r>
            <a:endParaRPr lang="en-US" sz="900" dirty="0"/>
          </a:p>
          <a:p>
            <a:pPr marL="342900" indent="-342900" algn="l">
              <a:lnSpc>
                <a:spcPct val="131000"/>
              </a:lnSpc>
              <a:buSzPct val="100000"/>
              <a:buChar char="•"/>
            </a:pPr>
            <a:r>
              <a:rPr lang="en-US" sz="900" dirty="0">
                <a:solidFill>
                  <a:srgbClr val="CFD0D8"/>
                </a:solidFill>
                <a:latin typeface="Roboto" pitchFamily="34" charset="0"/>
                <a:ea typeface="Roboto" pitchFamily="34" charset="-122"/>
                <a:cs typeface="Roboto" pitchFamily="34" charset="-120"/>
              </a:rPr>
              <a:t>Playbook for targeted retention and measurement</a:t>
            </a:r>
            <a:endParaRPr lang="en-US" sz="900" dirty="0"/>
          </a:p>
        </p:txBody>
      </p:sp>
      <p:sp>
        <p:nvSpPr>
          <p:cNvPr id="9" name="Shape 6"/>
          <p:cNvSpPr/>
          <p:nvPr/>
        </p:nvSpPr>
        <p:spPr>
          <a:xfrm>
            <a:off x="496119" y="3036429"/>
            <a:ext cx="60052" cy="60052"/>
          </a:xfrm>
          <a:prstGeom prst="roundRect">
            <a:avLst>
              <a:gd name="adj" fmla="val 475838"/>
            </a:avLst>
          </a:prstGeom>
          <a:solidFill>
            <a:srgbClr val="5A6ED8"/>
          </a:solidFill>
          <a:ln/>
        </p:spPr>
      </p:sp>
      <p:sp>
        <p:nvSpPr>
          <p:cNvPr id="10" name="Text 7"/>
          <p:cNvSpPr/>
          <p:nvPr/>
        </p:nvSpPr>
        <p:spPr>
          <a:xfrm>
            <a:off x="672554" y="2972619"/>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CFD0D8"/>
                </a:solidFill>
                <a:latin typeface="Roboto Medium" pitchFamily="34" charset="0"/>
                <a:ea typeface="Roboto Medium" pitchFamily="34" charset="-122"/>
                <a:cs typeface="Roboto Medium" pitchFamily="34" charset="-120"/>
              </a:rPr>
              <a:t>Next Steps</a:t>
            </a:r>
            <a:endParaRPr lang="en-US" sz="1150" dirty="0"/>
          </a:p>
        </p:txBody>
      </p:sp>
      <p:sp>
        <p:nvSpPr>
          <p:cNvPr id="11" name="Text 8"/>
          <p:cNvSpPr/>
          <p:nvPr/>
        </p:nvSpPr>
        <p:spPr>
          <a:xfrm>
            <a:off x="672554" y="3230166"/>
            <a:ext cx="4546327" cy="649114"/>
          </a:xfrm>
          <a:prstGeom prst="rect">
            <a:avLst/>
          </a:prstGeom>
          <a:noFill/>
          <a:ln/>
        </p:spPr>
        <p:txBody>
          <a:bodyPr wrap="square" lIns="0" tIns="0" rIns="0" bIns="0" rtlCol="0" anchor="t">
            <a:normAutofit/>
          </a:bodyPr>
          <a:lstStyle/>
          <a:p>
            <a:pPr marL="342900" indent="-342900" algn="l">
              <a:lnSpc>
                <a:spcPct val="131000"/>
              </a:lnSpc>
              <a:buSzPct val="100000"/>
              <a:buFont typeface="+mj-lt"/>
              <a:buAutoNum type="arabicPeriod"/>
            </a:pPr>
            <a:r>
              <a:rPr lang="en-US" sz="900" dirty="0">
                <a:solidFill>
                  <a:srgbClr val="CFD0D8"/>
                </a:solidFill>
                <a:latin typeface="Roboto" pitchFamily="34" charset="0"/>
                <a:ea typeface="Roboto" pitchFamily="34" charset="-122"/>
                <a:cs typeface="Roboto" pitchFamily="34" charset="-120"/>
              </a:rPr>
              <a:t>Execute pilot retention campaign on top risk cohort</a:t>
            </a:r>
            <a:endParaRPr lang="en-US" sz="900" dirty="0"/>
          </a:p>
          <a:p>
            <a:pPr marL="342900" indent="-342900" algn="l">
              <a:lnSpc>
                <a:spcPct val="131000"/>
              </a:lnSpc>
              <a:buSzPct val="100000"/>
              <a:buFont typeface="+mj-lt"/>
              <a:buAutoNum type="arabicPeriod" startAt="2"/>
            </a:pPr>
            <a:r>
              <a:rPr lang="en-US" sz="900" dirty="0">
                <a:solidFill>
                  <a:srgbClr val="CFD0D8"/>
                </a:solidFill>
                <a:latin typeface="Roboto" pitchFamily="34" charset="0"/>
                <a:ea typeface="Roboto" pitchFamily="34" charset="-122"/>
                <a:cs typeface="Roboto" pitchFamily="34" charset="-120"/>
              </a:rPr>
              <a:t>Track lift and iterate on interventions</a:t>
            </a:r>
            <a:endParaRPr lang="en-US" sz="900" dirty="0"/>
          </a:p>
          <a:p>
            <a:pPr marL="342900" indent="-342900" algn="l">
              <a:lnSpc>
                <a:spcPct val="131000"/>
              </a:lnSpc>
              <a:buSzPct val="100000"/>
              <a:buFont typeface="+mj-lt"/>
              <a:buAutoNum type="arabicPeriod" startAt="3"/>
            </a:pPr>
            <a:r>
              <a:rPr lang="en-US" sz="900" dirty="0">
                <a:solidFill>
                  <a:srgbClr val="CFD0D8"/>
                </a:solidFill>
                <a:latin typeface="Roboto" pitchFamily="34" charset="0"/>
                <a:ea typeface="Roboto" pitchFamily="34" charset="-122"/>
                <a:cs typeface="Roboto" pitchFamily="34" charset="-120"/>
              </a:rPr>
              <a:t>Monitor model performance and retrain quarterly</a:t>
            </a:r>
            <a:endParaRPr lang="en-US" sz="900" dirty="0"/>
          </a:p>
        </p:txBody>
      </p:sp>
      <p:sp>
        <p:nvSpPr>
          <p:cNvPr id="12" name="Shape 9"/>
          <p:cNvSpPr/>
          <p:nvPr/>
        </p:nvSpPr>
        <p:spPr>
          <a:xfrm>
            <a:off x="496119" y="4010174"/>
            <a:ext cx="4722763" cy="647849"/>
          </a:xfrm>
          <a:prstGeom prst="roundRect">
            <a:avLst>
              <a:gd name="adj" fmla="val 7791"/>
            </a:avLst>
          </a:prstGeom>
          <a:solidFill>
            <a:srgbClr val="262626"/>
          </a:solidFill>
          <a:ln/>
        </p:spPr>
      </p:sp>
      <p:pic>
        <p:nvPicPr>
          <p:cNvPr id="13" name="Image 1" descr="preencoded.png"/>
          <p:cNvPicPr>
            <a:picLocks noChangeAspect="1"/>
          </p:cNvPicPr>
          <p:nvPr/>
        </p:nvPicPr>
        <p:blipFill>
          <a:blip r:embed="rId4"/>
          <a:stretch>
            <a:fillRect/>
          </a:stretch>
        </p:blipFill>
        <p:spPr>
          <a:xfrm>
            <a:off x="616223" y="4178945"/>
            <a:ext cx="150168" cy="120104"/>
          </a:xfrm>
          <a:prstGeom prst="rect">
            <a:avLst/>
          </a:prstGeom>
        </p:spPr>
      </p:pic>
      <p:sp>
        <p:nvSpPr>
          <p:cNvPr id="14" name="Text 10"/>
          <p:cNvSpPr/>
          <p:nvPr/>
        </p:nvSpPr>
        <p:spPr>
          <a:xfrm>
            <a:off x="886495" y="4144863"/>
            <a:ext cx="4212282" cy="378470"/>
          </a:xfrm>
          <a:prstGeom prst="rect">
            <a:avLst/>
          </a:prstGeom>
          <a:noFill/>
          <a:ln/>
        </p:spPr>
        <p:txBody>
          <a:bodyPr wrap="square" lIns="0" tIns="0" rIns="0" bIns="0" rtlCol="0" anchor="t">
            <a:normAutofit/>
          </a:bodyPr>
          <a:lstStyle/>
          <a:p>
            <a:pPr marL="0" indent="0" algn="l">
              <a:lnSpc>
                <a:spcPct val="131000"/>
              </a:lnSpc>
              <a:buNone/>
            </a:pPr>
            <a:r>
              <a:rPr lang="en-US" sz="900" dirty="0">
                <a:solidFill>
                  <a:srgbClr val="FFFFFF"/>
                </a:solidFill>
                <a:latin typeface="Roboto" pitchFamily="34" charset="0"/>
                <a:ea typeface="Roboto" pitchFamily="34" charset="-122"/>
                <a:cs typeface="Roboto" pitchFamily="34" charset="-120"/>
              </a:rPr>
              <a:t> Questions &amp; Discussion — happy to walk through the model, the dashboard, or the operational rollout plan.</a:t>
            </a:r>
            <a:endParaRPr lang="en-US" sz="900"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24</TotalTime>
  <Words>1446</Words>
  <Application>Microsoft Office PowerPoint</Application>
  <PresentationFormat>On-screen Show (16:9)</PresentationFormat>
  <Paragraphs>120</Paragraphs>
  <Slides>11</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Rockwell</vt:lpstr>
      <vt:lpstr>Roboto Light</vt:lpstr>
      <vt:lpstr>Bookman Old Style</vt:lpstr>
      <vt:lpstr>Roboto Medium</vt:lpstr>
      <vt:lpstr>Roboto</vt:lpstr>
      <vt:lpstr>Damask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Hello Ayush</dc:creator>
  <cp:lastModifiedBy>Ayush Rajput</cp:lastModifiedBy>
  <cp:revision>2</cp:revision>
  <dcterms:created xsi:type="dcterms:W3CDTF">2026-06-17T09:11:46Z</dcterms:created>
  <dcterms:modified xsi:type="dcterms:W3CDTF">2026-06-17T09:36:32Z</dcterms:modified>
</cp:coreProperties>
</file>